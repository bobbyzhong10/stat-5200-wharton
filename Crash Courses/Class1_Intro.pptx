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51"/>
  </p:notesMasterIdLst>
  <p:sldIdLst>
    <p:sldId id="514" r:id="rId2"/>
    <p:sldId id="655" r:id="rId3"/>
    <p:sldId id="648" r:id="rId4"/>
    <p:sldId id="656" r:id="rId5"/>
    <p:sldId id="657" r:id="rId6"/>
    <p:sldId id="658" r:id="rId7"/>
    <p:sldId id="659" r:id="rId8"/>
    <p:sldId id="660" r:id="rId9"/>
    <p:sldId id="661" r:id="rId10"/>
    <p:sldId id="662" r:id="rId11"/>
    <p:sldId id="663" r:id="rId12"/>
    <p:sldId id="664" r:id="rId13"/>
    <p:sldId id="665" r:id="rId14"/>
    <p:sldId id="666" r:id="rId15"/>
    <p:sldId id="667" r:id="rId16"/>
    <p:sldId id="668" r:id="rId17"/>
    <p:sldId id="669" r:id="rId18"/>
    <p:sldId id="670" r:id="rId19"/>
    <p:sldId id="671" r:id="rId20"/>
    <p:sldId id="678" r:id="rId21"/>
    <p:sldId id="672" r:id="rId22"/>
    <p:sldId id="676" r:id="rId23"/>
    <p:sldId id="675" r:id="rId24"/>
    <p:sldId id="679" r:id="rId25"/>
    <p:sldId id="677" r:id="rId26"/>
    <p:sldId id="680" r:id="rId27"/>
    <p:sldId id="681" r:id="rId28"/>
    <p:sldId id="684" r:id="rId29"/>
    <p:sldId id="682" r:id="rId30"/>
    <p:sldId id="683" r:id="rId31"/>
    <p:sldId id="685" r:id="rId32"/>
    <p:sldId id="686" r:id="rId33"/>
    <p:sldId id="687" r:id="rId34"/>
    <p:sldId id="688" r:id="rId35"/>
    <p:sldId id="689" r:id="rId36"/>
    <p:sldId id="690" r:id="rId37"/>
    <p:sldId id="691" r:id="rId38"/>
    <p:sldId id="693" r:id="rId39"/>
    <p:sldId id="692" r:id="rId40"/>
    <p:sldId id="694" r:id="rId41"/>
    <p:sldId id="695" r:id="rId42"/>
    <p:sldId id="705" r:id="rId43"/>
    <p:sldId id="696" r:id="rId44"/>
    <p:sldId id="701" r:id="rId45"/>
    <p:sldId id="699" r:id="rId46"/>
    <p:sldId id="700" r:id="rId47"/>
    <p:sldId id="698" r:id="rId48"/>
    <p:sldId id="703" r:id="rId49"/>
    <p:sldId id="704" r:id="rId50"/>
  </p:sldIdLst>
  <p:sldSz cx="9144000" cy="6858000" type="screen4x3"/>
  <p:notesSz cx="7010400" cy="9296400"/>
  <p:custDataLst>
    <p:tags r:id="rId5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AA84F"/>
    <a:srgbClr val="99CC00"/>
    <a:srgbClr val="0070C0"/>
    <a:srgbClr val="0095FF"/>
    <a:srgbClr val="0081CC"/>
    <a:srgbClr val="00FF00"/>
    <a:srgbClr val="0070FF"/>
    <a:srgbClr val="FBF61A"/>
    <a:srgbClr val="F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626" autoAdjust="0"/>
    <p:restoredTop sz="74247" autoAdjust="0"/>
  </p:normalViewPr>
  <p:slideViewPr>
    <p:cSldViewPr>
      <p:cViewPr varScale="1">
        <p:scale>
          <a:sx n="92" d="100"/>
          <a:sy n="92" d="100"/>
        </p:scale>
        <p:origin x="6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502" y="9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l" defTabSz="93172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9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r" defTabSz="93172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24000" y="533400"/>
            <a:ext cx="3354388" cy="25161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04801" y="3124200"/>
            <a:ext cx="6378575" cy="550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l" defTabSz="93172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9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 defTabSz="931726">
              <a:defRPr sz="1200"/>
            </a:lvl1pPr>
          </a:lstStyle>
          <a:p>
            <a:pPr>
              <a:defRPr/>
            </a:pPr>
            <a:fld id="{F16BDF87-D729-4A63-B659-16A08CE20E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005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726" eaLnBrk="0" hangingPunct="0"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841" indent="-285708" defTabSz="931726" eaLnBrk="0" hangingPunct="0"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2833" indent="-228567" defTabSz="931726" eaLnBrk="0" hangingPunct="0"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9965" indent="-228567" defTabSz="931726" eaLnBrk="0" hangingPunct="0"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099" indent="-228567" defTabSz="931726" eaLnBrk="0" hangingPunct="0"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232" indent="-228567" defTabSz="93172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364" indent="-228567" defTabSz="93172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8498" indent="-228567" defTabSz="93172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5630" indent="-228567" defTabSz="93172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B4FA55B-6318-462C-A635-A6430FE1A281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defTabSz="966471" eaLnBrk="1" hangingPunct="1">
              <a:defRPr/>
            </a:pPr>
            <a:endParaRPr lang="en-US" baseline="0" dirty="0"/>
          </a:p>
          <a:p>
            <a:pPr defTabSz="966471" eaLnBrk="1" hangingPunct="1">
              <a:defRPr/>
            </a:pPr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4033279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B39D-6751-6ABD-6F9D-EA0ECB2D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984DB-509B-A86A-BC35-C12E12EBE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C3986-90ED-39E1-4393-18CF56015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50C2E-BBC0-5E0A-5577-37D88D10A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824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95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89D09-A7A1-D5C7-7CFB-D5816324B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8A941-1656-6F73-17F8-4083C4857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8FFA1-BE16-0CCD-19ED-1F0016A3F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28AFA-D4A0-B077-1180-45B6629BF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04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D4636-58CA-5BF9-FC9F-391C81FF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215B8-DA8A-9EA9-6C27-84416C9E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051F4-123B-849D-E2E6-AA4A20E0C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40F09-4764-20FC-DB0F-A92D2F299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77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9980E-51AB-CF9D-C15D-FBCF29E6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349F0-766B-1394-966F-F612D695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2E08A-E300-1C05-EE65-68F342A9E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DD2B8-7F7D-BB49-24D4-8536DE987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76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1514-F139-72C2-EF43-26EE4DB90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17CEA-C416-F57A-30D2-BD0635ECD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4735B-0EDC-2F0F-DA13-177645B95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D4938-967E-7AF4-4D3C-1433D5D55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80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55DC-497C-66B6-9C0C-45A2A1AA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BE895-1673-314D-CE32-4DA673352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834EA-FB6B-EA49-EE3B-E27E952FE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2907D-4919-ADD0-1000-F749ADAF0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26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29461-BC47-8F81-83D1-8A8BBD8D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0DDB8-5CB3-CE2D-AF82-EAD7DAC03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B5893-56B1-41BA-D24C-32754100A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E6A2B-7752-BE01-8EC1-D472D913E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6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48B1-01F1-94CD-7119-1323E7380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68A7D-5C98-1E99-ABF7-8F485099F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EC92C-B953-B466-1254-D27BD4021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84CCF-660D-AC44-23CE-B3D429B15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00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F31FC-4947-DE20-551C-F4AE2A4C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16C11-EC8B-AEC9-68D5-8BAA65F7D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8C757-7528-B6AB-225D-BEBDD1952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DC1CA-26E8-507D-5B11-25E441DCA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65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C41B9-FA8A-3A8B-0159-2DDEB6C6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E813D-A69F-EC6B-DFBD-CE385F7D7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59D0D-2973-CCB4-90ED-6674C334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25848-2347-3407-F737-8F03CA587C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65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E779-5DFD-5087-B0D1-1BD535FB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6B8C8-B3C2-46CA-9217-5BA45270E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F2889-0700-7118-DA5D-894C77441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F0D87-1F83-3776-90CF-B608DBD22C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43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1E0C8-8CAC-E91C-ECE8-16768E96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C450F-8C1A-0397-4443-CB364C0D9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0F947-C560-1B2D-A631-C49CF328D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D4F19-5CE2-CB91-40E8-9E5C75A4C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91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E21E8-6885-5C2D-641D-634BE1AB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8B063-AB40-24E3-760A-65E6A237E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01ED2-488B-20F1-D0ED-1B2B1E5CF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B4109-F734-9568-DC06-D5C6A4E65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78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FC80-B277-B37F-66AF-ACCE11F5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8F865-7E7F-7B59-D421-0A24DDC13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648F9-60DB-5A62-6491-33B5A11BA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7F4CE-E842-2393-75D5-7E5C7881D4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78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FA26-76E9-D887-AE82-145C1FC6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4A638-ECAC-7670-CEB7-D6B7B01E6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9741B-FCD1-36B5-2C80-4AB7433BA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CA143-60E1-EDDD-A7A3-DB61FD911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46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DEAC-484F-99F3-0861-DD9B4DD4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8878A-C576-13D9-CE5F-A726661A4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D9480-F68D-58BF-DB60-B82BE5E92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EE8DF-9E79-EF48-0A8A-0D862B63A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16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0125-4A06-5FD1-95F1-A2D171BF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D8569-7A7F-98C6-E0E6-0B4E4EAC8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B7565-C5FE-92A5-1F29-4C2744AA2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402AD-FF74-FDFC-C090-D713D432F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69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ECA9-4F83-72DF-E2DE-6D84B061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223F0-D4AC-27FA-2AB1-6872CC6D0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E5848-A6BE-ABF0-E886-680AE9617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251A9-02A8-D3CB-15D9-661E92DA7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79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810E-E4D7-07A4-F37B-7F0975C6D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F4061-B23F-B3F9-8AA8-F89F97577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15EE1-CD90-74E4-FE17-B834839BD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62B0F-97CC-3344-3026-64835ED34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832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3941D-097B-A49C-0444-7BFAE2DD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9561B-F72F-C8DA-D069-5F638CF7B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8F114-CF4B-12CE-5429-D50744E9C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8F17B-DE08-B8C8-94AD-0801EABF8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87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B57E-A695-01BF-1E9A-3D620A02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FCBF0-73CE-6199-26C1-9C8DB6625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3AD9F-66EA-0511-D3CC-9F57D06CE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A2E26-9CD3-834D-5E0D-FD9DA8C32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61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DCBDC-CBEA-FF83-AB4E-31B1BAFC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C6DE4-50A5-B5F2-DB6A-88CF18B24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5BE9C-68A6-5A28-18A6-724A2E0D9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B3B45-8C8F-855B-5E7C-AB1EBC24F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907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6BD4-0073-7C7B-A145-CE3A8889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05ADD-9D5E-543E-FC99-1AB5C955C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BE38D-A2AF-7356-7A93-AEBCEB63C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E78D0-4881-AF3B-F2D0-53A4B1B9F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370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7779-6496-1700-0E28-48BDC5BE9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E124C-E70D-5454-050B-88956FD8C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FFD7D-A8E6-4692-6733-9CDD6498B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A5F64-F50F-C6C7-B782-BC127628B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112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9BF45-AD52-DFBD-AF01-FBB113792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7E074-2CDE-F137-AB82-E112B0312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41BB6-01F7-4176-AFFD-C9F0AB7E0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E2DB3-4C32-0DA7-D181-24FDE08A6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65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E3DE-A602-B176-6CF1-8F67FF2C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97B22-3372-6B51-8103-B00B18314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D495F-6852-4C42-7377-ACC0B8800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FD1CE-7D4B-5817-65A2-64F992EE3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047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43BB-1095-3285-4CE9-38062C94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D2CA8-0C37-4E5D-CD57-67E0F65E8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E439F-82D6-1DF3-11D9-3CFA7C88D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F007D-7647-1873-69F5-E41FF74F7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116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8459-20F8-3049-4149-B26FB789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3E1AB-9EDE-F5DD-D06F-50349871A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577BD-2A00-AFD3-665E-81229D71A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882C-6D8A-3FFD-CAE6-CD8C269F6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359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E95E-0710-3BD6-12E1-25B87F47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D2947-F26D-E1AF-3169-0A29D5A03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6AEE9-0419-3DF9-6CA7-3FDBC79B2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1840A-E3D8-B183-F95D-2E0D1FFCAA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317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FBB3-0A12-669D-40A3-8CB42C7E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FBC89-2574-6F03-A253-95B507C96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B159E-E4BA-963E-C2A5-C186EDA80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52073-F8F5-44C2-2B96-C67E8B8AE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237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04C8D-AFA8-AC9E-D1BB-DD3E6A18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AC8FD-5997-D060-4C51-B61DE2F83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D709F-9AE2-CA0F-866B-83180AB1C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CE29B-520B-B847-44C0-B526736DCA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417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25E99-75BF-1EFC-BAFD-DCB54C62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1BC32-2DBE-CCC5-57C2-D5F98FD58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E78B4-C3A3-60FC-6097-C6AF255FC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75030-3917-DEB9-B0A9-B800E55DC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596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6030-56E0-6610-1E2B-73AC2173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B1B61-8990-BC50-823B-B2A665D8F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F27BC-545D-7EA6-B5C6-99BBC567B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C3378-19F9-73B4-BB24-D8C7606C8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298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6E4E-69D0-CCDB-5681-7C9D9BFC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3CFA4-5623-126A-76E7-9DE05AAAA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04772-32C4-757F-E4B5-7E9E308A9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330A6-3228-1934-4F88-1123868BD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617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8F6D-FF74-B58F-AE21-5EA4BC6BA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B94A7-DD10-F080-EB97-A73271CEC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94B99-8EEA-1DCC-DB6A-B108D8EA6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0741F-DABE-4A7A-017B-29FE6C5EB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59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4ED6-F3F0-E9F5-3CB5-E48E1577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8C0FA-76E3-CC53-752A-3BB1E76FF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44577-AB67-5EA7-390E-A5F530A1A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02B58-747A-B49F-07D9-2B8D39974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156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C2D09-5F13-09DB-2BDE-3A6C645A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2886D-23B6-6DFC-539D-99C79A268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CBD0A-4E46-C3D5-BC5C-6B1F24B1E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4CC28-0A59-94CE-5F6C-5DF23599B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409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5F7A-7442-443D-8B9D-5C9F023B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D3B13-3FFE-B037-6FAC-4BD24B24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C34B5-414A-EA20-1F0D-20CD5C105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B390F-3426-7AC0-2B42-B2D44646C6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420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3CD8-751D-7540-6BB4-4F585CD8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60102-2306-3439-4D09-00C152D73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7C11D-47D5-7084-535C-F87065AB8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03754-70AF-BCE1-1D9D-7F6A06191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26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F670F-7FD9-725E-2E37-07B012B7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0C7E9-98FD-66F6-D50F-8F6079111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FEB36-C8ED-C10F-5961-6AF863FB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312C8-4270-10A6-03EF-9072B6EB8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73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BB98-3702-3CA9-CA45-B909A6BF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2FA20-4D65-E828-9A5B-2116F1601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13252-3D42-0847-898F-3A9CC1397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67F77-C5B5-4287-C317-D30336CC4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581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A22A-E0D5-D671-16C0-EBB853063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1AAE8-DC40-4787-03F9-04A9C761A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50246-D76A-1B39-09F3-9703C9F6B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84C0E-05D0-406B-6903-55D45C683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279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7A53-E986-3B32-4D6C-E145F465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9EFD7-1A88-C3D9-00A3-91F93670A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9AB64-0124-2038-6E8B-BE44059CE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6D2B8-F1E5-ACE0-580A-F002E234B3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855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97F47-3511-9D22-CA8C-C6A145AB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764D5-5C1C-08DB-D8C5-1C6095D79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E0951-F856-6BC6-7583-C311773DD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89468-659D-F9B1-E40B-2DB1BCE566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6BDF87-D729-4A63-B659-16A08CE20E84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21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09C7D-2ECD-4F00-ABC0-4A8BB40CD9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32114153-F50B-FD7A-BF63-196A00213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477000"/>
            <a:ext cx="51054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AEDS 6400 --   Prof. Yisroel Cahn</a:t>
            </a:r>
          </a:p>
        </p:txBody>
      </p:sp>
    </p:spTree>
    <p:extLst>
      <p:ext uri="{BB962C8B-B14F-4D97-AF65-F5344CB8AC3E}">
        <p14:creationId xmlns:p14="http://schemas.microsoft.com/office/powerpoint/2010/main" val="664866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3194049"/>
            <a:ext cx="8229600" cy="1143001"/>
          </a:xfrm>
        </p:spPr>
        <p:txBody>
          <a:bodyPr/>
          <a:lstStyle/>
          <a:p>
            <a:r>
              <a:rPr lang="en-US" dirty="0"/>
              <a:t>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09686" y="6400800"/>
            <a:ext cx="533400" cy="457200"/>
          </a:xfrm>
          <a:ln/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50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539BEA-8BDF-4E03-AA6B-0F96501A25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2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6500"/>
            <a:ext cx="3922713" cy="5118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313" y="1206500"/>
            <a:ext cx="3922712" cy="5118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F557C-D346-40F6-8E14-007B5897A2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9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6FB0A2-55EB-4BFF-B096-7DB36BF472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4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7067C-D0D8-45D4-93BE-2F8A8B489D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70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B3C1A-2AEA-4E80-9C90-70A272C470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6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91DE0-CD91-42E6-9132-EE7AFEC38A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7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9107C-D11B-44A9-8F5C-C81144C3E7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6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DFD37-0CA6-46CF-853C-A8B196AD8A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98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1163" y="-125413"/>
            <a:ext cx="2100262" cy="6450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-125413"/>
            <a:ext cx="6151563" cy="6450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22671-4090-480B-8CE3-AAB19E790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33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1C514-2DED-4049-8223-1C3CA9258A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8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401836" y="232172"/>
            <a:ext cx="8340258" cy="982336"/>
          </a:xfrm>
          <a:prstGeom prst="rect">
            <a:avLst/>
          </a:prstGeom>
          <a:noFill/>
          <a:ln>
            <a:noFill/>
          </a:ln>
        </p:spPr>
        <p:txBody>
          <a:bodyPr wrap="square" lIns="144475" tIns="144475" rIns="144475" bIns="14447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1607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32145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4821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6429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80364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9643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11251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12858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953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401836" y="1562695"/>
            <a:ext cx="8340258" cy="4688086"/>
          </a:xfrm>
          <a:prstGeom prst="rect">
            <a:avLst/>
          </a:prstGeom>
          <a:noFill/>
          <a:ln>
            <a:noFill/>
          </a:ln>
        </p:spPr>
        <p:txBody>
          <a:bodyPr wrap="square" lIns="144475" tIns="144475" rIns="144475" bIns="144475" anchor="t" anchorCtr="0"/>
          <a:lstStyle>
            <a:lvl1pPr marL="321457" marR="0" lvl="0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42915" marR="0" lvl="1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64372" marR="0" lvl="2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285829" marR="0" lvl="3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607287" marR="0" lvl="4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928744" marR="0" lvl="5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747474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2250201" marR="0" lvl="6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747474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2571659" marR="0" lvl="7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747474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893116" marR="0" lvl="8" indent="-200911" algn="l" rtl="0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747474"/>
              </a:buClr>
              <a:buSzPct val="75000"/>
              <a:buFont typeface="Helvetica Neue"/>
              <a:buChar char="•"/>
              <a:defRPr sz="2531" b="0" i="0" u="none" strike="noStrike" cap="non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626077" y="6465094"/>
            <a:ext cx="219375" cy="210727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</a:pPr>
            <a:fld id="{00000000-1234-1234-1234-123412341234}" type="slidenum">
              <a:rPr lang="en-US" sz="984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</a:pPr>
              <a:t>‹#›</a:t>
            </a:fld>
            <a:endParaRPr lang="en-US" sz="984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8184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828800"/>
            <a:ext cx="8229600" cy="11430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4024B8-948A-4A2D-BD23-AF8328455B4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0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75"/>
            <a:ext cx="9144000" cy="850900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31825" y="-125413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9502"/>
            <a:ext cx="7997825" cy="448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53" name="Line 6"/>
          <p:cNvSpPr>
            <a:spLocks noChangeShapeType="1"/>
          </p:cNvSpPr>
          <p:nvPr/>
        </p:nvSpPr>
        <p:spPr bwMode="auto">
          <a:xfrm>
            <a:off x="0" y="966788"/>
            <a:ext cx="9144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" name="Line 7"/>
          <p:cNvSpPr>
            <a:spLocks noChangeShapeType="1"/>
          </p:cNvSpPr>
          <p:nvPr/>
        </p:nvSpPr>
        <p:spPr bwMode="auto">
          <a:xfrm>
            <a:off x="9525" y="6370638"/>
            <a:ext cx="9144000" cy="0"/>
          </a:xfrm>
          <a:prstGeom prst="line">
            <a:avLst/>
          </a:prstGeom>
          <a:noFill/>
          <a:ln w="25400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" name="Line 8"/>
          <p:cNvSpPr>
            <a:spLocks noChangeShapeType="1"/>
          </p:cNvSpPr>
          <p:nvPr/>
        </p:nvSpPr>
        <p:spPr bwMode="auto">
          <a:xfrm>
            <a:off x="8534400" y="6372225"/>
            <a:ext cx="0" cy="485775"/>
          </a:xfrm>
          <a:prstGeom prst="line">
            <a:avLst/>
          </a:prstGeom>
          <a:noFill/>
          <a:ln w="12700">
            <a:solidFill>
              <a:srgbClr val="0081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477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54024B8-948A-4A2D-BD23-AF8328455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43000" y="6477000"/>
            <a:ext cx="51054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AEDS 6400 --   Prof. Yisroel Cahn</a:t>
            </a:r>
          </a:p>
        </p:txBody>
      </p:sp>
      <p:pic>
        <p:nvPicPr>
          <p:cNvPr id="4" name="Picture 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1A9866B0-B05D-F595-CEDD-82686D7F895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095" y="5624514"/>
            <a:ext cx="1917930" cy="62716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  <p:sldLayoutId id="2147483676" r:id="rId1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39725" indent="-339725" algn="l" rtl="0" eaLnBrk="0" fontAlgn="base" hangingPunct="0">
        <a:spcBef>
          <a:spcPct val="20000"/>
        </a:spcBef>
        <a:spcAft>
          <a:spcPct val="0"/>
        </a:spcAft>
        <a:buSzPct val="75000"/>
        <a:buFont typeface="Arial" charset="0"/>
        <a:buChar char="●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96925" indent="-3429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50938" indent="-239713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8138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65338" indent="-3429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22538" indent="-3429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70C0"/>
          </a:solidFill>
          <a:latin typeface="+mn-lt"/>
          <a:cs typeface="+mn-cs"/>
        </a:defRPr>
      </a:lvl6pPr>
      <a:lvl7pPr marL="2979738" indent="-3429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70C0"/>
          </a:solidFill>
          <a:latin typeface="+mn-lt"/>
          <a:cs typeface="+mn-cs"/>
        </a:defRPr>
      </a:lvl7pPr>
      <a:lvl8pPr marL="3436938" indent="-3429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70C0"/>
          </a:solidFill>
          <a:latin typeface="+mn-lt"/>
          <a:cs typeface="+mn-cs"/>
        </a:defRPr>
      </a:lvl8pPr>
      <a:lvl9pPr marL="3894138" indent="-3429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70C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81000" y="4191000"/>
            <a:ext cx="8077200" cy="1145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/>
          <a:p>
            <a:r>
              <a:rPr lang="en-US" sz="4000" b="1" dirty="0">
                <a:solidFill>
                  <a:srgbClr val="0081CC"/>
                </a:solidFill>
              </a:rPr>
              <a:t>Class 1: Introduction 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457200" y="2133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/>
          <a:p>
            <a:r>
              <a:rPr lang="en-US" sz="5000" b="1" dirty="0"/>
              <a:t>AEDS 6400: Computational Methods for Economists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09C7D-2ECD-4F00-ABC0-4A8BB40CD9A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548436"/>
            <a:ext cx="4953000" cy="233364"/>
          </a:xfrm>
        </p:spPr>
        <p:txBody>
          <a:bodyPr/>
          <a:lstStyle/>
          <a:p>
            <a:r>
              <a:rPr lang="en-US" dirty="0"/>
              <a:t>AEDS 6400 --   Prof. Yisroel Cahn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8297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3198-51FE-C6FE-3553-B8982B9F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787D-92D9-6952-1E58-558CA7A3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93EF6-5DD0-1B20-F0BE-72806D1E3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Syllabus</a:t>
            </a:r>
          </a:p>
          <a:p>
            <a:r>
              <a:rPr lang="en-US" dirty="0"/>
              <a:t>R Crash Course</a:t>
            </a:r>
          </a:p>
          <a:p>
            <a:r>
              <a:rPr lang="en-US" dirty="0"/>
              <a:t>Creating and Connecting a GitHub Repository in RStudio</a:t>
            </a:r>
          </a:p>
          <a:p>
            <a:r>
              <a:rPr lang="en-US" dirty="0"/>
              <a:t>Setting Up a Quarto Website</a:t>
            </a:r>
          </a:p>
          <a:p>
            <a:r>
              <a:rPr lang="en-US" dirty="0"/>
              <a:t>”Homework 0”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EA48E-E953-4318-6EB1-C542AF049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CBFB2-85AF-176E-BC3B-29B8CCA5D2AE}"/>
              </a:ext>
            </a:extLst>
          </p:cNvPr>
          <p:cNvSpPr/>
          <p:nvPr/>
        </p:nvSpPr>
        <p:spPr>
          <a:xfrm>
            <a:off x="838200" y="2286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Class Outline</a:t>
            </a:r>
          </a:p>
        </p:txBody>
      </p:sp>
    </p:spTree>
    <p:extLst>
      <p:ext uri="{BB962C8B-B14F-4D97-AF65-F5344CB8AC3E}">
        <p14:creationId xmlns:p14="http://schemas.microsoft.com/office/powerpoint/2010/main" val="372773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4727-C148-4D82-97C0-7AE8F74B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2DDE-C328-4D72-ACBE-FF7E12B97E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B560E2-17F3-A252-7C33-8C1101A24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After downloading R and RStudio:</a:t>
            </a:r>
          </a:p>
          <a:p>
            <a:pPr lvl="1"/>
            <a:r>
              <a:rPr lang="en-US" sz="2400" b="1" dirty="0"/>
              <a:t>Next step:</a:t>
            </a:r>
            <a:r>
              <a:rPr lang="en-US" sz="2400" dirty="0"/>
              <a:t> Create a GitHub account.</a:t>
            </a:r>
          </a:p>
          <a:p>
            <a:pPr lvl="2"/>
            <a:r>
              <a:rPr lang="en-US" sz="2000" b="1" dirty="0"/>
              <a:t>Git</a:t>
            </a:r>
            <a:r>
              <a:rPr lang="en-US" sz="2000" dirty="0"/>
              <a:t> is a </a:t>
            </a:r>
            <a:r>
              <a:rPr lang="en-US" sz="2000" i="1" dirty="0"/>
              <a:t>version control system</a:t>
            </a:r>
            <a:r>
              <a:rPr lang="en-US" sz="2000" dirty="0"/>
              <a:t> that tracks changes to your files. </a:t>
            </a:r>
          </a:p>
          <a:p>
            <a:pPr lvl="2"/>
            <a:r>
              <a:rPr lang="en-US" sz="2000" dirty="0"/>
              <a:t>Instead of saving files as analysis_final_v2.R, analysis_final_v3.R, </a:t>
            </a:r>
            <a:r>
              <a:rPr lang="en-US" sz="2000" dirty="0" err="1"/>
              <a:t>analysis_FINAL_really_final.R</a:t>
            </a:r>
            <a:r>
              <a:rPr lang="en-US" sz="2000" dirty="0"/>
              <a:t>, Git records the complete history of changes and lets you return to any previous version. </a:t>
            </a:r>
          </a:p>
          <a:p>
            <a:pPr lvl="1"/>
            <a:r>
              <a:rPr lang="en-US" sz="2400" b="1" dirty="0"/>
              <a:t>GitHub</a:t>
            </a:r>
            <a:r>
              <a:rPr lang="en-US" sz="2400" dirty="0"/>
              <a:t> stores your Git repositories online</a:t>
            </a:r>
            <a:r>
              <a:rPr lang="en-US" dirty="0"/>
              <a:t>. </a:t>
            </a:r>
          </a:p>
          <a:p>
            <a:pPr lvl="2"/>
            <a:r>
              <a:rPr lang="en-US" sz="2000" dirty="0"/>
              <a:t>This makes it easy to back up your work, collaborate with others, and access your projects from different computers.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6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A20AC-3F28-4D99-3652-AFA2E9179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661F-9D78-5F7F-2CED-A2F2B3EE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01DE4-2090-763C-FF66-70BDEE86B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9157D0-1E1E-9E31-B362-E147B109E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1: Creating a GitHub Repository</a:t>
            </a:r>
          </a:p>
          <a:p>
            <a:pPr lvl="1"/>
            <a:r>
              <a:rPr lang="en-US" b="1" dirty="0"/>
              <a:t>Create a Repository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Log in/create account to </a:t>
            </a:r>
            <a:r>
              <a:rPr lang="en-US" b="1" dirty="0"/>
              <a:t>GitHub</a:t>
            </a:r>
            <a:r>
              <a:rPr lang="en-US" dirty="0"/>
              <a:t>.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New Repository</a:t>
            </a:r>
            <a:r>
              <a:rPr lang="en-US" dirty="0"/>
              <a:t>.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Choose a repository name (e.g., </a:t>
            </a:r>
            <a:r>
              <a:rPr lang="en-US" dirty="0" err="1"/>
              <a:t>myrepo</a:t>
            </a:r>
            <a:r>
              <a:rPr lang="en-US" dirty="0"/>
              <a:t>).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Make it </a:t>
            </a:r>
            <a:r>
              <a:rPr lang="en-US" b="1" dirty="0"/>
              <a:t>Public</a:t>
            </a:r>
            <a:r>
              <a:rPr lang="en-US" dirty="0"/>
              <a:t>.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Initialize with a README.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Create Repository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99A323-5FE6-EA90-9799-B3D2A8EE7A0A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214038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5BEF-15CA-3303-B78F-9AC83BC7B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A03F-9244-5753-F6ED-3836685A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2691A-9E71-9BCF-23DA-486BE9A85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0D5E71-A9DC-CB21-D76F-2F0C146220FD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2F2BF4-C9C9-5B8F-2586-156E5D93B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6" y="1079500"/>
            <a:ext cx="5679993" cy="4483100"/>
          </a:xfrm>
        </p:spPr>
      </p:pic>
    </p:spTree>
    <p:extLst>
      <p:ext uri="{BB962C8B-B14F-4D97-AF65-F5344CB8AC3E}">
        <p14:creationId xmlns:p14="http://schemas.microsoft.com/office/powerpoint/2010/main" val="14198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D6A0-9F16-A562-AD1D-03B809DCA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25C9-5221-956B-6BBF-9F629514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5402C-A808-8F54-B370-30DB9CD75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CB0A23-3B9B-0497-0590-81F106B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Clone the Repository</a:t>
            </a:r>
          </a:p>
          <a:p>
            <a:pPr marL="454025" lvl="1" indent="0">
              <a:buNone/>
            </a:pPr>
            <a:r>
              <a:rPr lang="en-US" b="1" dirty="0"/>
              <a:t>In RStudio: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File → New Project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Version Control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Git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Paste the repository URL.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Choose a local folder. </a:t>
            </a:r>
          </a:p>
          <a:p>
            <a:pPr marL="1368425" lvl="2" indent="-457200"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Create Project</a:t>
            </a:r>
            <a:r>
              <a:rPr lang="en-US" dirty="0"/>
              <a:t>.</a:t>
            </a:r>
          </a:p>
          <a:p>
            <a:pPr marL="1368425" lvl="2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82BE4-2173-1AA1-9B29-B299C37F7B01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2892531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CC2D-57CC-BEBE-2D4B-4B0176FF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C904-9043-1EC0-68D8-A5F7CD0A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E81D8-AB50-8EF2-0571-11F2181A1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C618A8-4399-DD89-319E-3B6323072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456" y="1079500"/>
            <a:ext cx="5129312" cy="448310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09AF34-C609-67D2-07E0-CE3A1476BDD1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3408926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EBBDF-BE0E-B2A9-5E46-F506B9A9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167C-3C31-9D34-11AC-0A787F58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CF3EE-E55C-98AA-992B-C7C34AC4C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FA1EA9-6702-47BF-EC01-CE10FCB7E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179" y="1079500"/>
            <a:ext cx="6259866" cy="448310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811F4B-74B4-3153-40B2-FEB39454A07C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238832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CDF2-D338-F941-1F4E-30F02AD0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AAA6-7740-AA83-5CEF-F366DE8E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EC2D8-1293-D20A-943E-CDF1D2605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454894-B2F0-33AE-B4B9-A07B62E11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740" y="1079500"/>
            <a:ext cx="6252744" cy="4483100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4220FF-7EDF-CB9C-3051-538D691120B4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3488946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58E1-356B-D27B-B2B1-9D58DA63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46C00-8ED3-228B-7119-E1B4FC3B2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Paste the repository URL: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AFD75-3EF5-FDDB-85C2-E246EA307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0D8799-D646-0250-C149-FC97D7068E54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6B126F-82C0-A489-D0B4-3E93696FE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843146"/>
            <a:ext cx="5638800" cy="413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42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9540-E53B-6250-58A7-6879D9E0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51A1-7542-E0F0-E7D4-A221F8CE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20730-6401-AF6C-D7EF-10CCC2D13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Paste the repository URL: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5465B-A37F-1926-B61E-91B0B0DCBA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C8CDD6-4A71-EE06-8E33-C19FFB37BEAC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000A13-91E4-A76F-0BA5-435C3F312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" y="1846434"/>
            <a:ext cx="5451680" cy="412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D81F-3286-8039-9F8D-D688AE0D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47C2-15FB-316F-836B-141E827D9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D61B04-09ED-A777-7113-E53076DAC8AC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  <p:pic>
        <p:nvPicPr>
          <p:cNvPr id="16" name="Content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FA084F-2F13-17CC-475E-C82C17A9A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451702"/>
            <a:ext cx="5544802" cy="3954595"/>
          </a:xfrm>
        </p:spPr>
      </p:pic>
    </p:spTree>
    <p:extLst>
      <p:ext uri="{BB962C8B-B14F-4D97-AF65-F5344CB8AC3E}">
        <p14:creationId xmlns:p14="http://schemas.microsoft.com/office/powerpoint/2010/main" val="267903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20BE-EF82-270A-B200-05001BC0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5AF1-1B61-5BE1-DB66-5C45D65C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DB05E-51D9-2DF4-F895-8D93D4709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14ED45-31BC-21EC-395D-4DB11DB62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Authenticate (First Time Only)</a:t>
            </a:r>
          </a:p>
          <a:p>
            <a:pPr marL="0" indent="0">
              <a:buNone/>
            </a:pPr>
            <a:r>
              <a:rPr lang="en-US" dirty="0"/>
              <a:t>Create a Personal Access Token (PAT)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On GitHub, click your profile picture → </a:t>
            </a:r>
            <a:r>
              <a:rPr lang="en-US" sz="1600" b="1" dirty="0"/>
              <a:t>Settings</a:t>
            </a:r>
            <a:r>
              <a:rPr lang="en-US" sz="16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Go to </a:t>
            </a:r>
            <a:r>
              <a:rPr lang="en-US" sz="1600" b="1" dirty="0"/>
              <a:t>Developer settings</a:t>
            </a:r>
            <a:r>
              <a:rPr lang="en-US" sz="16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Select </a:t>
            </a:r>
            <a:r>
              <a:rPr lang="en-US" sz="1600" b="1" dirty="0"/>
              <a:t>Personal access tokens</a:t>
            </a:r>
            <a:r>
              <a:rPr lang="en-US" sz="16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Choose </a:t>
            </a:r>
            <a:r>
              <a:rPr lang="en-US" sz="1600" b="1" dirty="0"/>
              <a:t>Tokens (classic)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Click </a:t>
            </a:r>
            <a:r>
              <a:rPr lang="en-US" sz="1600" b="1" dirty="0"/>
              <a:t>Generate new token</a:t>
            </a:r>
            <a:r>
              <a:rPr lang="en-US" sz="16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Give it a name and an expiration date.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Grant the </a:t>
            </a:r>
            <a:r>
              <a:rPr lang="en-US" sz="1600" b="1" dirty="0"/>
              <a:t>repo</a:t>
            </a:r>
            <a:r>
              <a:rPr lang="en-US" sz="1600" dirty="0"/>
              <a:t> permission (or equivalent repository access for a fine-grained token).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Generate the token and </a:t>
            </a:r>
            <a:r>
              <a:rPr lang="en-US" sz="1600" b="1" dirty="0"/>
              <a:t>copy it immediately</a:t>
            </a:r>
            <a:r>
              <a:rPr lang="en-US" sz="1600" dirty="0"/>
              <a:t> (GitHub won't show it again).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When Git asks for your password: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Username:</a:t>
            </a:r>
            <a:r>
              <a:rPr lang="en-US" sz="1600" dirty="0"/>
              <a:t> your GitHub username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Password:</a:t>
            </a:r>
            <a:r>
              <a:rPr lang="en-US" sz="1600" dirty="0"/>
              <a:t> paste the Personal Access Token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58385-A3DB-6390-64E9-318DBD3D121E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1477150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67BD0-A030-C552-3C35-0525E7FB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8D71-8352-A232-FF78-375571FF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DEE0D-ED5A-181C-16D4-12D88F1E21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1057A0-53CD-D508-FE63-45B211299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187450"/>
            <a:ext cx="6003168" cy="448310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5BE53D9-BFBD-5B32-426B-3CE1E93D8CA4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378463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D3701-EDBB-A482-1378-52F0596B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C109-E517-A1A3-5756-7EFB1246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28EE4-E757-04C1-BBB0-A09EAA732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945D16-DCA9-9316-0AA0-4293BE136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269" y="1079500"/>
            <a:ext cx="5263686" cy="448310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4287C2-36B7-F2FA-241B-4632A63DCE62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1564228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79C4-7FDF-08A6-FE6D-CF603405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A561-D2B7-0F21-CB68-D7214B1C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CC7AB-88E0-A2C3-DA0C-F4E3441A5E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077D1F-688E-489E-4189-D0275DD336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76" y="1079500"/>
            <a:ext cx="7552672" cy="448310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3AE403-419C-496F-BAAA-1BA062689258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3185526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FFAC2-4EB4-E5DA-8EFD-D0DF1BD4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E03C-ABED-A006-6D01-06DEB958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F83FF-9647-8F20-DAAA-F21D7EE45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66850F-BF5D-F0DB-0BC1-E3AB03B98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28" y="1079500"/>
            <a:ext cx="7896369" cy="448310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42E5561-674A-9C61-DF15-D39916F8C0A0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754103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FD408-ABEA-F558-2E63-AFD5253D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D588-B3BD-6392-C4BE-D9B9A2E1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CD966-B5D6-463C-0D58-A65F3DCD4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15F55D-B49B-8136-830A-DE04FE075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98676"/>
            <a:ext cx="7997825" cy="3244747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E8D1C1-B8C7-021B-8465-F62B3C7D0CED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687301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B954-CDE7-0D3A-933B-4383B3F8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CFEF-B560-A0A8-AFAB-54582ADEA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E1F3F-9630-FE34-5278-8DFCB98415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CA3901-31EE-AFDF-BDAA-0D983A1B5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6" y="1187450"/>
            <a:ext cx="7369628" cy="429895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A8459E-5FA6-D658-C2D5-4C31547C2FA5}"/>
              </a:ext>
            </a:extLst>
          </p:cNvPr>
          <p:cNvSpPr txBox="1"/>
          <p:nvPr/>
        </p:nvSpPr>
        <p:spPr>
          <a:xfrm>
            <a:off x="914400" y="5805869"/>
            <a:ext cx="317266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Make sure repo is selected!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0D3564-7A17-31F4-677A-57AE0DCB15AD}"/>
              </a:ext>
            </a:extLst>
          </p:cNvPr>
          <p:cNvSpPr/>
          <p:nvPr/>
        </p:nvSpPr>
        <p:spPr>
          <a:xfrm>
            <a:off x="688975" y="152400"/>
            <a:ext cx="7997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Creating &amp; Connecting a GitHub Repo in RStudio</a:t>
            </a:r>
          </a:p>
        </p:txBody>
      </p:sp>
    </p:spTree>
    <p:extLst>
      <p:ext uri="{BB962C8B-B14F-4D97-AF65-F5344CB8AC3E}">
        <p14:creationId xmlns:p14="http://schemas.microsoft.com/office/powerpoint/2010/main" val="1878293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5E42D-3533-943E-AC7B-5C0176CB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3B68-3F37-26A7-FD1F-A7A9E777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963E0-8660-53DD-B646-A1CE35B45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850131-8217-0664-B1F4-94A6755F9B05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BF9D37-419E-12E7-7AF2-741A389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From GitHub Repository to Quarto Website</a:t>
            </a:r>
          </a:p>
          <a:p>
            <a:pPr marL="454025" lvl="1" indent="0">
              <a:buNone/>
            </a:pPr>
            <a:r>
              <a:rPr lang="en-US" sz="2400" b="1" dirty="0"/>
              <a:t>Connecting GitHub and RStudio</a:t>
            </a:r>
          </a:p>
          <a:p>
            <a:pPr lvl="1"/>
            <a:r>
              <a:rPr lang="en-US" sz="2400" dirty="0"/>
              <a:t>Previously, we connected a GitHub repository to RStudio.</a:t>
            </a:r>
          </a:p>
          <a:p>
            <a:pPr marL="454025" lvl="1" indent="0">
              <a:buNone/>
            </a:pPr>
            <a:r>
              <a:rPr lang="en-US" sz="2400" dirty="0"/>
              <a:t>This created a link between:</a:t>
            </a:r>
          </a:p>
          <a:p>
            <a:pPr lvl="1"/>
            <a:r>
              <a:rPr lang="en-US" sz="2400" b="1" dirty="0"/>
              <a:t>GitHub:</a:t>
            </a:r>
            <a:r>
              <a:rPr lang="en-US" sz="2400" dirty="0"/>
              <a:t> online storage and version history </a:t>
            </a:r>
          </a:p>
          <a:p>
            <a:pPr lvl="1"/>
            <a:r>
              <a:rPr lang="en-US" sz="2400" b="1" dirty="0"/>
              <a:t>Git:</a:t>
            </a:r>
            <a:r>
              <a:rPr lang="en-US" sz="2400" dirty="0"/>
              <a:t> tracks changes to files </a:t>
            </a:r>
          </a:p>
          <a:p>
            <a:pPr lvl="1"/>
            <a:r>
              <a:rPr lang="en-US" sz="2400" b="1" dirty="0"/>
              <a:t>RStudio:</a:t>
            </a:r>
            <a:r>
              <a:rPr lang="en-US" sz="2400" dirty="0"/>
              <a:t> where we edit our files </a:t>
            </a:r>
          </a:p>
          <a:p>
            <a:pPr marL="454025" lvl="1" indent="0">
              <a:buNone/>
            </a:pPr>
            <a:r>
              <a:rPr lang="en-US" sz="2400" dirty="0"/>
              <a:t>Now we will add a </a:t>
            </a:r>
            <a:r>
              <a:rPr lang="en-US" sz="2400" b="1" dirty="0"/>
              <a:t>Quarto website</a:t>
            </a:r>
            <a:r>
              <a:rPr lang="en-US" sz="2400" dirty="0"/>
              <a:t> to this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84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105AD-0364-B183-CBF1-30A4A4FA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2AC6A-F491-7EFB-90C7-2E87780D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33695-52B9-2345-1444-C7F81E824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323916-6B6F-ED88-52CB-A0A2FAF44A84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309C1-76F1-0D2F-DB57-F50BD397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RStudio: Select </a:t>
            </a:r>
            <a:r>
              <a:rPr lang="en-US" b="1" dirty="0"/>
              <a:t>File → New Project → New Directory → Quarto Website</a:t>
            </a:r>
            <a:endParaRPr lang="en-US" dirty="0"/>
          </a:p>
        </p:txBody>
      </p:sp>
      <p:pic>
        <p:nvPicPr>
          <p:cNvPr id="6" name="Picture 5" descr="A screenshot of a software&#10;&#10;AI-generated content may be incorrect.">
            <a:extLst>
              <a:ext uri="{FF2B5EF4-FFF2-40B4-BE49-F238E27FC236}">
                <a16:creationId xmlns:a16="http://schemas.microsoft.com/office/drawing/2014/main" id="{70224194-8818-81D3-F862-8B27F91C1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200"/>
            <a:ext cx="4356100" cy="309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51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11890-29AE-DA98-423C-F69D6C59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EB1F-AD5C-B041-5AEE-81D13F27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39AEA-BD84-D2A5-E7A4-9CD1D59F11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C8F688-5172-45B5-C798-50EB96F80983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26914-3C6A-A1AB-6EF7-269DADDBD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creates:</a:t>
            </a:r>
          </a:p>
          <a:p>
            <a:pPr marL="0" indent="0">
              <a:buNone/>
            </a:pPr>
            <a:r>
              <a:rPr lang="en-US" sz="1800" dirty="0"/>
              <a:t>my-website/</a:t>
            </a:r>
          </a:p>
          <a:p>
            <a:pPr marL="0" indent="0">
              <a:buNone/>
            </a:pPr>
            <a:r>
              <a:rPr lang="en-US" sz="1800" dirty="0"/>
              <a:t>│</a:t>
            </a:r>
          </a:p>
          <a:p>
            <a:pPr marL="0" indent="0">
              <a:buNone/>
            </a:pPr>
            <a:r>
              <a:rPr lang="en-US" sz="1800" dirty="0"/>
              <a:t>├── </a:t>
            </a:r>
            <a:r>
              <a:rPr lang="en-US" sz="1800" dirty="0" err="1"/>
              <a:t>index.qmd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├── </a:t>
            </a:r>
            <a:r>
              <a:rPr lang="en-US" sz="1800" dirty="0" err="1"/>
              <a:t>about.qmd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├── _</a:t>
            </a:r>
            <a:r>
              <a:rPr lang="en-US" sz="1800" dirty="0" err="1"/>
              <a:t>quarto.yml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└── </a:t>
            </a:r>
            <a:r>
              <a:rPr lang="en-US" sz="1800" dirty="0" err="1"/>
              <a:t>styles.css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key file is:</a:t>
            </a:r>
          </a:p>
          <a:p>
            <a:pPr marL="0" indent="0">
              <a:buNone/>
            </a:pPr>
            <a:r>
              <a:rPr lang="en-US" sz="1800" dirty="0"/>
              <a:t>_</a:t>
            </a:r>
            <a:r>
              <a:rPr lang="en-US" sz="1800" dirty="0" err="1"/>
              <a:t>quarto.yml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This is the configuration file that tells Quarto:</a:t>
            </a:r>
          </a:p>
          <a:p>
            <a:r>
              <a:rPr lang="en-US" sz="1800" dirty="0"/>
              <a:t>this is a website </a:t>
            </a:r>
          </a:p>
          <a:p>
            <a:r>
              <a:rPr lang="en-US" sz="1800" dirty="0"/>
              <a:t>what the title is </a:t>
            </a:r>
          </a:p>
          <a:p>
            <a:r>
              <a:rPr lang="en-US" sz="1800" dirty="0"/>
              <a:t>what pages appear in the navigation bar </a:t>
            </a:r>
          </a:p>
          <a:p>
            <a:r>
              <a:rPr lang="en-US" sz="1800" dirty="0"/>
              <a:t>what theme/style to use 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97287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CAA8C-D5FC-2EF4-E94C-57C1CC24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76C5-39F7-F404-4880-D52D8A4C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5065A-4C6A-9E42-C4D7-D786453350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5F5244-3A48-CCFF-E772-FB6304C6997C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EF7A9A-700A-73F7-258C-28623B9C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_</a:t>
            </a:r>
            <a:r>
              <a:rPr lang="en-US" dirty="0" err="1"/>
              <a:t>quarto.yml</a:t>
            </a:r>
            <a:r>
              <a:rPr lang="en-US" dirty="0"/>
              <a:t> File: Website Settings</a:t>
            </a:r>
          </a:p>
          <a:p>
            <a:pPr marL="0" indent="0">
              <a:buNone/>
            </a:pPr>
            <a:r>
              <a:rPr lang="en-US" sz="1400" b="1" dirty="0"/>
              <a:t>Copy and Paste:</a:t>
            </a:r>
          </a:p>
          <a:p>
            <a:pPr marL="0" indent="0">
              <a:buNone/>
            </a:pPr>
            <a:r>
              <a:rPr lang="en-US" sz="900" dirty="0"/>
              <a:t>project:</a:t>
            </a:r>
          </a:p>
          <a:p>
            <a:pPr marL="0" indent="0">
              <a:buNone/>
            </a:pPr>
            <a:r>
              <a:rPr lang="en-US" sz="900" dirty="0"/>
              <a:t>  type: website</a:t>
            </a:r>
          </a:p>
          <a:p>
            <a:pPr marL="0" indent="0">
              <a:buNone/>
            </a:pPr>
            <a:r>
              <a:rPr lang="en-US" sz="900" dirty="0"/>
              <a:t>  output-</a:t>
            </a:r>
            <a:r>
              <a:rPr lang="en-US" sz="900" dirty="0" err="1"/>
              <a:t>dir</a:t>
            </a:r>
            <a:r>
              <a:rPr lang="en-US" sz="900" dirty="0"/>
              <a:t>: docs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website:</a:t>
            </a:r>
          </a:p>
          <a:p>
            <a:pPr marL="0" indent="0">
              <a:buNone/>
            </a:pPr>
            <a:r>
              <a:rPr lang="en-US" sz="900" dirty="0"/>
              <a:t>  title: "Student Name"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navbar:</a:t>
            </a:r>
          </a:p>
          <a:p>
            <a:pPr marL="0" indent="0">
              <a:buNone/>
            </a:pPr>
            <a:r>
              <a:rPr lang="en-US" sz="900" dirty="0"/>
              <a:t>    left:</a:t>
            </a:r>
          </a:p>
          <a:p>
            <a:pPr marL="0" indent="0">
              <a:buNone/>
            </a:pPr>
            <a:r>
              <a:rPr lang="en-US" sz="900" dirty="0"/>
              <a:t>      - </a:t>
            </a:r>
            <a:r>
              <a:rPr lang="en-US" sz="900" dirty="0" err="1"/>
              <a:t>href</a:t>
            </a:r>
            <a:r>
              <a:rPr lang="en-US" sz="900" dirty="0"/>
              <a:t>: </a:t>
            </a:r>
            <a:r>
              <a:rPr lang="en-US" sz="900" dirty="0" err="1"/>
              <a:t>index.qmd</a:t>
            </a:r>
            <a:endParaRPr lang="en-US" sz="900" dirty="0"/>
          </a:p>
          <a:p>
            <a:pPr marL="0" indent="0">
              <a:buNone/>
            </a:pPr>
            <a:r>
              <a:rPr lang="en-US" sz="900" dirty="0"/>
              <a:t>        text: Home</a:t>
            </a:r>
          </a:p>
          <a:p>
            <a:pPr marL="0" indent="0">
              <a:buNone/>
            </a:pPr>
            <a:r>
              <a:rPr lang="en-US" sz="900" dirty="0"/>
              <a:t>      - </a:t>
            </a:r>
            <a:r>
              <a:rPr lang="en-US" sz="900" dirty="0" err="1"/>
              <a:t>bio.qmd</a:t>
            </a:r>
            <a:endParaRPr lang="en-US" sz="900" dirty="0"/>
          </a:p>
          <a:p>
            <a:pPr marL="0" indent="0">
              <a:buNone/>
            </a:pPr>
            <a:r>
              <a:rPr lang="en-US" sz="900" dirty="0"/>
              <a:t>      - </a:t>
            </a:r>
            <a:r>
              <a:rPr lang="en-US" sz="900" dirty="0" err="1"/>
              <a:t>resume.qmd</a:t>
            </a:r>
            <a:endParaRPr lang="en-US" sz="900" dirty="0"/>
          </a:p>
          <a:p>
            <a:pPr marL="0" indent="0">
              <a:buNone/>
            </a:pPr>
            <a:r>
              <a:rPr lang="en-US" sz="900" dirty="0"/>
              <a:t>      - blog/</a:t>
            </a:r>
            <a:r>
              <a:rPr lang="en-US" sz="900" dirty="0" err="1"/>
              <a:t>index.qmd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  page-footer:</a:t>
            </a:r>
          </a:p>
          <a:p>
            <a:pPr marL="0" indent="0">
              <a:buNone/>
            </a:pPr>
            <a:r>
              <a:rPr lang="en-US" sz="900" dirty="0"/>
              <a:t>    center: |</a:t>
            </a:r>
          </a:p>
          <a:p>
            <a:pPr marL="0" indent="0">
              <a:buNone/>
            </a:pPr>
            <a:r>
              <a:rPr lang="en-US" sz="900" dirty="0"/>
              <a:t>      © 2026 Student Name</a:t>
            </a:r>
          </a:p>
          <a:p>
            <a:pPr marL="0" indent="0">
              <a:buNone/>
            </a:pPr>
            <a:r>
              <a:rPr lang="en-US" sz="900" dirty="0"/>
              <a:t>    left: |</a:t>
            </a:r>
          </a:p>
          <a:p>
            <a:pPr marL="0" indent="0">
              <a:buNone/>
            </a:pPr>
            <a:r>
              <a:rPr lang="en-US" sz="900" dirty="0"/>
              <a:t>      ![](/images/</a:t>
            </a:r>
            <a:r>
              <a:rPr lang="en-US" sz="900" dirty="0" err="1"/>
              <a:t>UniversityofPennsylvania_FullLogo_RGB.png</a:t>
            </a:r>
            <a:r>
              <a:rPr lang="en-US" sz="900" dirty="0"/>
              <a:t>){width=100px}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format:</a:t>
            </a:r>
          </a:p>
          <a:p>
            <a:pPr marL="0" indent="0">
              <a:buNone/>
            </a:pPr>
            <a:r>
              <a:rPr lang="en-US" sz="900" dirty="0"/>
              <a:t>  html:</a:t>
            </a:r>
          </a:p>
          <a:p>
            <a:pPr marL="0" indent="0">
              <a:buNone/>
            </a:pPr>
            <a:r>
              <a:rPr lang="en-US" sz="900" dirty="0"/>
              <a:t>    theme: flatly</a:t>
            </a:r>
          </a:p>
          <a:p>
            <a:pPr marL="0" indent="0">
              <a:buNone/>
            </a:pPr>
            <a:r>
              <a:rPr lang="en-US" sz="900" dirty="0"/>
              <a:t>    </a:t>
            </a:r>
            <a:r>
              <a:rPr lang="en-US" sz="900" dirty="0" err="1"/>
              <a:t>css</a:t>
            </a:r>
            <a:r>
              <a:rPr lang="en-US" sz="900" dirty="0"/>
              <a:t>: </a:t>
            </a:r>
            <a:r>
              <a:rPr lang="en-US" sz="900" dirty="0" err="1"/>
              <a:t>styles.css</a:t>
            </a:r>
            <a:endParaRPr lang="en-US" sz="900" dirty="0"/>
          </a:p>
          <a:p>
            <a:pPr marL="0" indent="0">
              <a:buNone/>
            </a:pPr>
            <a:r>
              <a:rPr lang="en-US" sz="900" dirty="0"/>
              <a:t>    toc: false</a:t>
            </a:r>
          </a:p>
        </p:txBody>
      </p:sp>
    </p:spTree>
    <p:extLst>
      <p:ext uri="{BB962C8B-B14F-4D97-AF65-F5344CB8AC3E}">
        <p14:creationId xmlns:p14="http://schemas.microsoft.com/office/powerpoint/2010/main" val="4239261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C12C-65A4-549C-422A-551D664E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E1AB-ECE9-E40D-7A0F-0523E5D9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CAAC-4ADF-4BF7-849E-C7165D6592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936663-4FDA-0C0D-9D89-AF06BF25F599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4E84BC-C8B5-EFCB-B870-32019C483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40" y="1079500"/>
            <a:ext cx="7330345" cy="4483100"/>
          </a:xfrm>
        </p:spPr>
      </p:pic>
    </p:spTree>
    <p:extLst>
      <p:ext uri="{BB962C8B-B14F-4D97-AF65-F5344CB8AC3E}">
        <p14:creationId xmlns:p14="http://schemas.microsoft.com/office/powerpoint/2010/main" val="1131338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886B-89EE-B58A-91A7-95AFC780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C2EA-E8F7-F0AC-AE08-FF2B1EFE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E9BF7-0152-AAB5-F883-DA22EC5C1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3BC971-0D6A-5938-0510-8BFBA11F7C9D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6408EC-0DAB-03CD-0067-9B124F84F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10" y="1079500"/>
            <a:ext cx="7007004" cy="4483100"/>
          </a:xfrm>
        </p:spPr>
      </p:pic>
    </p:spTree>
    <p:extLst>
      <p:ext uri="{BB962C8B-B14F-4D97-AF65-F5344CB8AC3E}">
        <p14:creationId xmlns:p14="http://schemas.microsoft.com/office/powerpoint/2010/main" val="1577317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D6E-223F-2C75-7583-75C57060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2F11-B080-C685-8B40-E261EE99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0F397-A264-BE85-0261-02845FA9A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F53B4-BC6F-63E3-DEAC-828F0EFDD325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0953AF-F5E5-A7B8-96D8-EBEC8F9DF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5" y="1187450"/>
            <a:ext cx="4848095" cy="4483100"/>
          </a:xfrm>
        </p:spPr>
      </p:pic>
    </p:spTree>
    <p:extLst>
      <p:ext uri="{BB962C8B-B14F-4D97-AF65-F5344CB8AC3E}">
        <p14:creationId xmlns:p14="http://schemas.microsoft.com/office/powerpoint/2010/main" val="4062933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3A293-867C-8F63-9819-C4D1FD0E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3C67-F093-0687-BF22-45F3CA46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8140C-BB4B-E4E3-2E62-D4AD44712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95F8D-FB94-E610-2397-E73791C25DC3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2BA125-4676-CE82-51E0-266F6F1D6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15" y="1079500"/>
            <a:ext cx="6961195" cy="4483100"/>
          </a:xfrm>
        </p:spPr>
      </p:pic>
    </p:spTree>
    <p:extLst>
      <p:ext uri="{BB962C8B-B14F-4D97-AF65-F5344CB8AC3E}">
        <p14:creationId xmlns:p14="http://schemas.microsoft.com/office/powerpoint/2010/main" val="3394897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556E-44E0-83B2-FC52-468B0FF71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3B08-724F-734B-6F16-2034BB5F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6D82B-600E-08B8-DF2D-E5C056E97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3FB69C-5586-E209-B5DE-1C07172004D7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DE15EA-0DC3-6923-BD06-454C043B5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80" y="1752600"/>
            <a:ext cx="6351386" cy="3810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12274F-AF66-880E-5693-AE7EC3BD1478}"/>
              </a:ext>
            </a:extLst>
          </p:cNvPr>
          <p:cNvSpPr txBox="1"/>
          <p:nvPr/>
        </p:nvSpPr>
        <p:spPr>
          <a:xfrm>
            <a:off x="719381" y="1281545"/>
            <a:ext cx="779030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the </a:t>
            </a:r>
            <a:r>
              <a:rPr lang="en-US" b="1" dirty="0"/>
              <a:t>Files</a:t>
            </a:r>
            <a:r>
              <a:rPr lang="en-US" dirty="0"/>
              <a:t> pane. Select </a:t>
            </a:r>
            <a:r>
              <a:rPr lang="en-US" b="1" dirty="0"/>
              <a:t>New Folder</a:t>
            </a:r>
            <a:r>
              <a:rPr lang="en-US" dirty="0"/>
              <a:t>. Name the folder images.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F99474-EB1D-E703-8E6D-1625DB50FA81}"/>
              </a:ext>
            </a:extLst>
          </p:cNvPr>
          <p:cNvSpPr txBox="1"/>
          <p:nvPr/>
        </p:nvSpPr>
        <p:spPr>
          <a:xfrm>
            <a:off x="803564" y="5648934"/>
            <a:ext cx="59782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 </a:t>
            </a:r>
            <a:r>
              <a:rPr lang="en-US" dirty="0" err="1"/>
              <a:t>UniversityofPennsylvania_FullLogo_RGB.png</a:t>
            </a:r>
            <a:r>
              <a:rPr lang="en-US" dirty="0"/>
              <a:t> in the images folder.</a:t>
            </a:r>
          </a:p>
        </p:txBody>
      </p:sp>
    </p:spTree>
    <p:extLst>
      <p:ext uri="{BB962C8B-B14F-4D97-AF65-F5344CB8AC3E}">
        <p14:creationId xmlns:p14="http://schemas.microsoft.com/office/powerpoint/2010/main" val="1610596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C53AF-4C7B-23F5-3778-68E2B02C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5504-BD65-A455-5E5F-BD99B61C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5C484-CC8D-ABC1-0620-E68E165AC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878BE-F531-3F06-FE7E-E9A59F5CA738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5" name="Content Placeholder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420482C0-2F66-3F3B-D393-0B6E0997E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62" y="1352550"/>
            <a:ext cx="7861300" cy="3937000"/>
          </a:xfrm>
        </p:spPr>
      </p:pic>
    </p:spTree>
    <p:extLst>
      <p:ext uri="{BB962C8B-B14F-4D97-AF65-F5344CB8AC3E}">
        <p14:creationId xmlns:p14="http://schemas.microsoft.com/office/powerpoint/2010/main" val="1609021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BB90B-9A6D-3BB4-D037-145584EE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477AC-6E72-47A3-8C98-1C00BB91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F99C9-E533-C8C4-86B4-84DFE3739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6FE05C-94DF-BA57-1821-790033A6073B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EC440-9B58-7756-D62B-65AAFA8A7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Next, in </a:t>
            </a:r>
            <a:r>
              <a:rPr lang="en-US" dirty="0" err="1"/>
              <a:t>index.qmd</a:t>
            </a:r>
            <a:r>
              <a:rPr lang="en-US" dirty="0"/>
              <a:t> copy and paste: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900" dirty="0"/>
              <a:t>title: ""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::::: columns</a:t>
            </a:r>
          </a:p>
          <a:p>
            <a:pPr marL="0" indent="0">
              <a:buNone/>
            </a:pPr>
            <a:r>
              <a:rPr lang="en-US" sz="900" dirty="0"/>
              <a:t>::: {.column width="35%"}</a:t>
            </a:r>
          </a:p>
          <a:p>
            <a:pPr marL="0" indent="0">
              <a:buNone/>
            </a:pPr>
            <a:r>
              <a:rPr lang="en-US" sz="900" dirty="0"/>
              <a:t>![](images/</a:t>
            </a:r>
            <a:r>
              <a:rPr lang="en-US" sz="900" dirty="0" err="1"/>
              <a:t>profile.png</a:t>
            </a:r>
            <a:r>
              <a:rPr lang="en-US" sz="900" dirty="0"/>
              <a:t>){width="100%"}</a:t>
            </a:r>
          </a:p>
          <a:p>
            <a:pPr marL="0" indent="0">
              <a:buNone/>
            </a:pPr>
            <a:r>
              <a:rPr lang="en-US" sz="900" dirty="0"/>
              <a:t>:::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::: {.column width="65%"}</a:t>
            </a:r>
          </a:p>
          <a:p>
            <a:pPr marL="0" indent="0">
              <a:buNone/>
            </a:pPr>
            <a:r>
              <a:rPr lang="en-US" sz="900" dirty="0"/>
              <a:t>![](images/</a:t>
            </a:r>
            <a:r>
              <a:rPr lang="en-US" sz="900" dirty="0" err="1"/>
              <a:t>UniversityofPennsylvania_FullLogo_RGB.png</a:t>
            </a:r>
            <a:r>
              <a:rPr lang="en-US" sz="900" dirty="0"/>
              <a:t>){width="250px"}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# Student Name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University of </a:t>
            </a:r>
            <a:r>
              <a:rPr lang="en-US" sz="900" dirty="0" err="1"/>
              <a:t>Pennsylvaina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Welcome to my personal website.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### Quick Links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&lt;div&gt;</a:t>
            </a:r>
          </a:p>
          <a:p>
            <a:pPr marL="0" indent="0">
              <a:buNone/>
            </a:pPr>
            <a:r>
              <a:rPr lang="en-US" sz="900" dirty="0"/>
              <a:t>  &lt;a </a:t>
            </a:r>
            <a:r>
              <a:rPr lang="en-US" sz="900" dirty="0" err="1"/>
              <a:t>href</a:t>
            </a:r>
            <a:r>
              <a:rPr lang="en-US" sz="900" dirty="0"/>
              <a:t>="https://</a:t>
            </a:r>
            <a:r>
              <a:rPr lang="en-US" sz="900" dirty="0" err="1"/>
              <a:t>github.com</a:t>
            </a:r>
            <a:r>
              <a:rPr lang="en-US" sz="900" dirty="0"/>
              <a:t>/USERNAME"&gt;&lt;</a:t>
            </a:r>
            <a:r>
              <a:rPr lang="en-US" sz="900" dirty="0" err="1"/>
              <a:t>i</a:t>
            </a:r>
            <a:r>
              <a:rPr lang="en-US" sz="900" dirty="0"/>
              <a:t> class="bi bi-</a:t>
            </a:r>
            <a:r>
              <a:rPr lang="en-US" sz="900" dirty="0" err="1"/>
              <a:t>github</a:t>
            </a:r>
            <a:r>
              <a:rPr lang="en-US" sz="900" dirty="0"/>
              <a:t> fs-3"&gt;&lt;/</a:t>
            </a:r>
            <a:r>
              <a:rPr lang="en-US" sz="900" dirty="0" err="1"/>
              <a:t>i</a:t>
            </a:r>
            <a:r>
              <a:rPr lang="en-US" sz="900" dirty="0"/>
              <a:t>&gt;&lt;/a&gt;</a:t>
            </a:r>
          </a:p>
          <a:p>
            <a:pPr marL="0" indent="0">
              <a:buNone/>
            </a:pPr>
            <a:r>
              <a:rPr lang="en-US" sz="900" dirty="0"/>
              <a:t>  &lt;a </a:t>
            </a:r>
            <a:r>
              <a:rPr lang="en-US" sz="900" dirty="0" err="1"/>
              <a:t>href</a:t>
            </a:r>
            <a:r>
              <a:rPr lang="en-US" sz="900" dirty="0"/>
              <a:t>="https://</a:t>
            </a:r>
            <a:r>
              <a:rPr lang="en-US" sz="900" dirty="0" err="1"/>
              <a:t>linkedin.com</a:t>
            </a:r>
            <a:r>
              <a:rPr lang="en-US" sz="900" dirty="0"/>
              <a:t>/in/USERNAME"&gt;&lt;</a:t>
            </a:r>
            <a:r>
              <a:rPr lang="en-US" sz="900" dirty="0" err="1"/>
              <a:t>i</a:t>
            </a:r>
            <a:r>
              <a:rPr lang="en-US" sz="900" dirty="0"/>
              <a:t> class="bi bi-</a:t>
            </a:r>
            <a:r>
              <a:rPr lang="en-US" sz="900" dirty="0" err="1"/>
              <a:t>linkedin</a:t>
            </a:r>
            <a:r>
              <a:rPr lang="en-US" sz="900" dirty="0"/>
              <a:t> fs-3"&gt;&lt;/</a:t>
            </a:r>
            <a:r>
              <a:rPr lang="en-US" sz="900" dirty="0" err="1"/>
              <a:t>i</a:t>
            </a:r>
            <a:r>
              <a:rPr lang="en-US" sz="900" dirty="0"/>
              <a:t>&gt;&lt;/a&gt;</a:t>
            </a:r>
          </a:p>
          <a:p>
            <a:pPr marL="0" indent="0">
              <a:buNone/>
            </a:pPr>
            <a:r>
              <a:rPr lang="en-US" sz="900" dirty="0"/>
              <a:t>  &lt;a </a:t>
            </a:r>
            <a:r>
              <a:rPr lang="en-US" sz="900" dirty="0" err="1"/>
              <a:t>href</a:t>
            </a:r>
            <a:r>
              <a:rPr lang="en-US" sz="900" dirty="0"/>
              <a:t>="</a:t>
            </a:r>
            <a:r>
              <a:rPr lang="en-US" sz="900" dirty="0" err="1"/>
              <a:t>resume.qmd</a:t>
            </a:r>
            <a:r>
              <a:rPr lang="en-US" sz="900" dirty="0"/>
              <a:t>"&gt;&lt;</a:t>
            </a:r>
            <a:r>
              <a:rPr lang="en-US" sz="900" dirty="0" err="1"/>
              <a:t>i</a:t>
            </a:r>
            <a:r>
              <a:rPr lang="en-US" sz="900" dirty="0"/>
              <a:t> class="bi bi-file-earmark-person-fill fs-3"&gt;&lt;/</a:t>
            </a:r>
            <a:r>
              <a:rPr lang="en-US" sz="900" dirty="0" err="1"/>
              <a:t>i</a:t>
            </a:r>
            <a:r>
              <a:rPr lang="en-US" sz="900" dirty="0"/>
              <a:t>&gt;&lt;/a&gt;</a:t>
            </a:r>
          </a:p>
          <a:p>
            <a:pPr marL="0" indent="0">
              <a:buNone/>
            </a:pPr>
            <a:r>
              <a:rPr lang="en-US" sz="900" dirty="0"/>
              <a:t>  &lt;a </a:t>
            </a:r>
            <a:r>
              <a:rPr lang="en-US" sz="900" dirty="0" err="1"/>
              <a:t>href</a:t>
            </a:r>
            <a:r>
              <a:rPr lang="en-US" sz="900" dirty="0"/>
              <a:t>="</a:t>
            </a:r>
            <a:r>
              <a:rPr lang="en-US" sz="900" dirty="0" err="1"/>
              <a:t>mailto:student@email.com</a:t>
            </a:r>
            <a:r>
              <a:rPr lang="en-US" sz="900" dirty="0"/>
              <a:t>"&gt;&lt;</a:t>
            </a:r>
            <a:r>
              <a:rPr lang="en-US" sz="900" dirty="0" err="1"/>
              <a:t>i</a:t>
            </a:r>
            <a:r>
              <a:rPr lang="en-US" sz="900" dirty="0"/>
              <a:t> class="bi bi-envelope-fill fs-3"&gt;&lt;/</a:t>
            </a:r>
            <a:r>
              <a:rPr lang="en-US" sz="900" dirty="0" err="1"/>
              <a:t>i</a:t>
            </a:r>
            <a:r>
              <a:rPr lang="en-US" sz="900" dirty="0"/>
              <a:t>&gt;&lt;/a&gt;</a:t>
            </a:r>
          </a:p>
          <a:p>
            <a:pPr marL="0" indent="0">
              <a:buNone/>
            </a:pPr>
            <a:r>
              <a:rPr lang="en-US" sz="900" dirty="0"/>
              <a:t>&lt;/div&gt;</a:t>
            </a:r>
          </a:p>
          <a:p>
            <a:pPr marL="0" indent="0">
              <a:buNone/>
            </a:pPr>
            <a:r>
              <a:rPr lang="en-US" sz="900" dirty="0"/>
              <a:t>:::</a:t>
            </a:r>
          </a:p>
          <a:p>
            <a:pPr marL="0" indent="0">
              <a:buNone/>
            </a:pPr>
            <a:r>
              <a:rPr lang="en-US" sz="900" dirty="0"/>
              <a:t>:::::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95652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6A4ED-8070-6186-1C66-6CE33F00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2830-E362-D82E-B3EA-00DE7BA9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E9461-645A-BA94-A90E-07F68B6F2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305CFE-0555-1306-CA80-3412BB690EB2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641C73-2FB5-A46E-7ABD-47D7BD347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80" y="1079500"/>
            <a:ext cx="7473464" cy="4483100"/>
          </a:xfrm>
        </p:spPr>
      </p:pic>
    </p:spTree>
    <p:extLst>
      <p:ext uri="{BB962C8B-B14F-4D97-AF65-F5344CB8AC3E}">
        <p14:creationId xmlns:p14="http://schemas.microsoft.com/office/powerpoint/2010/main" val="2551263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8456A-81EE-28E2-E017-79EA6E2A8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1E4B-D5FE-BC45-00AA-497F7943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64967-635C-45DA-529E-76FB12334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790B1-E8C3-07DE-7CC1-4AE3B3A43C87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6" name="Content Placeholder 5" descr="A screenshot of a profile picture&#10;&#10;AI-generated content may be incorrect.">
            <a:extLst>
              <a:ext uri="{FF2B5EF4-FFF2-40B4-BE49-F238E27FC236}">
                <a16:creationId xmlns:a16="http://schemas.microsoft.com/office/drawing/2014/main" id="{34D1651F-F330-549D-5224-6B3C8165A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17" y="1079500"/>
            <a:ext cx="6888390" cy="4483100"/>
          </a:xfrm>
        </p:spPr>
      </p:pic>
    </p:spTree>
    <p:extLst>
      <p:ext uri="{BB962C8B-B14F-4D97-AF65-F5344CB8AC3E}">
        <p14:creationId xmlns:p14="http://schemas.microsoft.com/office/powerpoint/2010/main" val="192772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750B-F5F3-7D74-815B-1A060DB4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C4E5-22B8-C677-DDA7-25F42F97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42985-BEB1-A1CF-7851-02210EF5D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E6341E-B84B-830A-B71A-D03B8A81ED9E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C1BEDF-C173-262D-EC99-7B4F4C7B9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2" y="1333500"/>
            <a:ext cx="7581900" cy="3975100"/>
          </a:xfrm>
        </p:spPr>
      </p:pic>
    </p:spTree>
    <p:extLst>
      <p:ext uri="{BB962C8B-B14F-4D97-AF65-F5344CB8AC3E}">
        <p14:creationId xmlns:p14="http://schemas.microsoft.com/office/powerpoint/2010/main" val="3322731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0E050-D2E5-FFAC-9E20-3A74A01D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56553-3D7D-15EB-7CAE-271DE9D5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2CA0A-E9A5-2BBA-20F4-4CBE6442C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F6AFD4-005A-3A86-C0EA-94C40DFA654E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A3AB76-EEBB-0EE6-392B-FBD70CDAB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412" y="1104900"/>
            <a:ext cx="6375400" cy="4432300"/>
          </a:xfrm>
        </p:spPr>
      </p:pic>
    </p:spTree>
    <p:extLst>
      <p:ext uri="{BB962C8B-B14F-4D97-AF65-F5344CB8AC3E}">
        <p14:creationId xmlns:p14="http://schemas.microsoft.com/office/powerpoint/2010/main" val="2015059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B7BD-904F-2C90-617A-42B8DD8E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196A-6C43-0F44-3B42-9BE3F342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DB8B6-9F1D-C1E3-FD8A-EAE21E9200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C3E0D-6A4B-544E-873C-003E6829AE22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6" name="Content Placeholder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AED168C0-BED9-560F-ED8B-1939319A4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2" y="1949450"/>
            <a:ext cx="7073900" cy="2743200"/>
          </a:xfrm>
        </p:spPr>
      </p:pic>
    </p:spTree>
    <p:extLst>
      <p:ext uri="{BB962C8B-B14F-4D97-AF65-F5344CB8AC3E}">
        <p14:creationId xmlns:p14="http://schemas.microsoft.com/office/powerpoint/2010/main" val="4070449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3E85-2145-3FBA-FD07-7233BF08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B705-8871-DC19-A9C2-B1AAF77B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22DDD-719D-05B0-C084-FA7DF05FA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4F3BB-C7E0-063D-BEE8-FBCF514D531A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6C6CBE-F1F3-A35B-228D-66097AD0C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</a:t>
            </a:r>
            <a:r>
              <a:rPr lang="en-US" dirty="0" err="1"/>
              <a:t>styles.css</a:t>
            </a:r>
            <a:r>
              <a:rPr lang="en-US" dirty="0"/>
              <a:t> in the files tab and copy and paste:</a:t>
            </a:r>
          </a:p>
          <a:p>
            <a:pPr marL="0" indent="0">
              <a:buNone/>
            </a:pPr>
            <a:r>
              <a:rPr lang="en-US" sz="900" dirty="0"/>
              <a:t>body {</a:t>
            </a:r>
          </a:p>
          <a:p>
            <a:pPr marL="0" indent="0">
              <a:buNone/>
            </a:pPr>
            <a:r>
              <a:rPr lang="en-US" sz="900" dirty="0"/>
              <a:t>  max-width: 1000px;</a:t>
            </a:r>
          </a:p>
          <a:p>
            <a:pPr marL="0" indent="0">
              <a:buNone/>
            </a:pPr>
            <a:r>
              <a:rPr lang="en-US" sz="900" dirty="0"/>
              <a:t>  margin: auto;</a:t>
            </a:r>
          </a:p>
          <a:p>
            <a:pPr marL="0" indent="0">
              <a:buNone/>
            </a:pPr>
            <a:r>
              <a:rPr lang="en-US" sz="900" dirty="0"/>
              <a:t>}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p {</a:t>
            </a:r>
          </a:p>
          <a:p>
            <a:pPr marL="0" indent="0">
              <a:buNone/>
            </a:pPr>
            <a:r>
              <a:rPr lang="en-US" sz="900" dirty="0"/>
              <a:t>  line-height: 1.6;</a:t>
            </a:r>
          </a:p>
          <a:p>
            <a:pPr marL="0" indent="0">
              <a:buNone/>
            </a:pPr>
            <a:r>
              <a:rPr lang="en-US" sz="900" dirty="0"/>
              <a:t>}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.navbar {</a:t>
            </a:r>
          </a:p>
          <a:p>
            <a:pPr marL="0" indent="0">
              <a:buNone/>
            </a:pPr>
            <a:r>
              <a:rPr lang="en-US" sz="900" dirty="0"/>
              <a:t>  font-size: 1.05rem;</a:t>
            </a:r>
          </a:p>
          <a:p>
            <a:pPr marL="0" indent="0">
              <a:buNone/>
            </a:pPr>
            <a:r>
              <a:rPr lang="en-US" sz="900" dirty="0"/>
              <a:t>}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h1 {</a:t>
            </a:r>
          </a:p>
          <a:p>
            <a:pPr marL="0" indent="0">
              <a:buNone/>
            </a:pPr>
            <a:r>
              <a:rPr lang="en-US" sz="900" dirty="0"/>
              <a:t>  margin-top: 0.5em;</a:t>
            </a:r>
          </a:p>
          <a:p>
            <a:pPr marL="0" indent="0">
              <a:buNone/>
            </a:pPr>
            <a:r>
              <a:rPr lang="en-US" sz="9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3074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464B-DE69-71C2-0114-41996B13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C4D85-30DC-3C32-82CA-BBC126AC1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A5DCF-FDAB-B741-3B50-1A6F6AAE9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D930B-0AB0-F2E2-9374-F8BC77DBAEB2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422610-3242-8D76-E299-B5E461AA0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Create </a:t>
            </a:r>
            <a:r>
              <a:rPr lang="en-US" sz="2000" dirty="0" err="1"/>
              <a:t>bio.qmd</a:t>
            </a:r>
            <a:r>
              <a:rPr lang="en-US" sz="2000" dirty="0"/>
              <a:t> (File → New File → Quarto Document) and copy and paste with appropriate personalization: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900" dirty="0"/>
              <a:t>title: "About Me"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Write a short biography here.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Include: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-   Educational background</a:t>
            </a:r>
          </a:p>
          <a:p>
            <a:pPr marL="0" indent="0">
              <a:buNone/>
            </a:pPr>
            <a:r>
              <a:rPr lang="en-US" sz="900" dirty="0"/>
              <a:t>-   Professional interests</a:t>
            </a:r>
          </a:p>
          <a:p>
            <a:pPr marL="0" indent="0">
              <a:buNone/>
            </a:pPr>
            <a:r>
              <a:rPr lang="en-US" sz="900" dirty="0"/>
              <a:t>-   Technical skills</a:t>
            </a:r>
          </a:p>
          <a:p>
            <a:pPr marL="0" indent="0">
              <a:buNone/>
            </a:pPr>
            <a:r>
              <a:rPr lang="en-US" sz="900" dirty="0"/>
              <a:t>-   Career goals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## Education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Master of Applied Economics and Data Science, University of Pennsylvania (</a:t>
            </a:r>
            <a:r>
              <a:rPr lang="en-US" sz="900" dirty="0" err="1"/>
              <a:t>expaceted</a:t>
            </a:r>
            <a:r>
              <a:rPr lang="en-US" sz="900" dirty="0"/>
              <a:t> 2027) </a:t>
            </a:r>
            <a:r>
              <a:rPr lang="en-US" sz="900" dirty="0" err="1"/>
              <a:t>Batelor</a:t>
            </a:r>
            <a:r>
              <a:rPr lang="en-US" sz="900" dirty="0"/>
              <a:t> of Science, University Name 2026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## Interests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-   Econometrics</a:t>
            </a:r>
          </a:p>
          <a:p>
            <a:pPr marL="0" indent="0">
              <a:buNone/>
            </a:pPr>
            <a:r>
              <a:rPr lang="en-US" sz="900" dirty="0"/>
              <a:t>-   Machine Learning</a:t>
            </a:r>
          </a:p>
          <a:p>
            <a:pPr marL="0" indent="0">
              <a:buNone/>
            </a:pPr>
            <a:r>
              <a:rPr lang="en-US" sz="900" dirty="0"/>
              <a:t>-   Data Analysis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## Contact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## student\@</a:t>
            </a:r>
            <a:r>
              <a:rPr lang="en-US" sz="900" dirty="0" err="1"/>
              <a:t>email.edu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16112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8A47-D0D3-EE32-CE26-EA779C6CC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C17A-45DD-67B6-C53E-A7307E44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5C1B2-8674-285F-8E00-1898D4723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39F39E-3B4A-4504-F493-C74536DDE070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C68E12-30CB-19C6-5C25-717D52D8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Create </a:t>
            </a:r>
            <a:r>
              <a:rPr lang="en-US" sz="2000" dirty="0" err="1"/>
              <a:t>resume.qmd</a:t>
            </a:r>
            <a:r>
              <a:rPr lang="en-US" sz="2000" dirty="0"/>
              <a:t> (File → New File → Quarto Document) and copy and paste with appropriate personalization: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900" dirty="0"/>
              <a:t>title: "Resume"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Download my resume here: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## [Resume PDF](files/</a:t>
            </a:r>
            <a:r>
              <a:rPr lang="en-US" sz="900" dirty="0" err="1"/>
              <a:t>Resume.pdf</a:t>
            </a:r>
            <a:r>
              <a:rPr lang="en-US" sz="900" dirty="0"/>
              <a:t>)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000" dirty="0"/>
              <a:t>Create a new file called files and put your resume in it</a:t>
            </a:r>
          </a:p>
          <a:p>
            <a:pPr marL="0" indent="0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10711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8CBF-2299-88E7-B69F-32607BC7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7DD7-0A48-52B4-8421-A58855C8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C7CF4-A151-7433-7FE5-29DA1AEF9E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F7496A-5512-9BAF-EE1E-B78EAF84B431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2E1D4F-B4E9-8939-A4F2-6BF41F69F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Create a new folder called blog. Inside the folder, create </a:t>
            </a:r>
            <a:r>
              <a:rPr lang="en-US" sz="2000" dirty="0" err="1"/>
              <a:t>index.qmd</a:t>
            </a:r>
            <a:r>
              <a:rPr lang="en-US" sz="2000" dirty="0"/>
              <a:t> with: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900" dirty="0"/>
              <a:t>title: "Blog"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listing:</a:t>
            </a:r>
          </a:p>
          <a:p>
            <a:pPr marL="0" indent="0">
              <a:buNone/>
            </a:pPr>
            <a:r>
              <a:rPr lang="en-US" sz="900" dirty="0"/>
              <a:t>  contents: posts</a:t>
            </a:r>
          </a:p>
          <a:p>
            <a:pPr marL="0" indent="0">
              <a:buNone/>
            </a:pPr>
            <a:r>
              <a:rPr lang="en-US" sz="900" dirty="0"/>
              <a:t>  sort: "date desc"</a:t>
            </a:r>
          </a:p>
          <a:p>
            <a:pPr marL="0" indent="0">
              <a:buNone/>
            </a:pPr>
            <a:r>
              <a:rPr lang="en-US" sz="900" dirty="0"/>
              <a:t>  type: default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2000" dirty="0"/>
              <a:t>Still inside the blog folder, create another folder called posts. Inside the posts folder, create 2 more folders called post1 and post 2.</a:t>
            </a:r>
          </a:p>
        </p:txBody>
      </p:sp>
    </p:spTree>
    <p:extLst>
      <p:ext uri="{BB962C8B-B14F-4D97-AF65-F5344CB8AC3E}">
        <p14:creationId xmlns:p14="http://schemas.microsoft.com/office/powerpoint/2010/main" val="1178361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F3788-3A2A-BE7F-9220-71B9B739B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8AFA5-F3E4-56B6-B479-E4C61C88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A2C10-5EE5-2780-A9D3-C5ACEDABF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80C769-4168-7DE1-B055-BEDC74A628D5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CCC3E2-EC99-99F6-61BD-E8F6EF920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Inside the post1 folder: place the figure1.png file and create a file called </a:t>
            </a:r>
            <a:r>
              <a:rPr lang="en-US" sz="2000" dirty="0" err="1"/>
              <a:t>index.qmd</a:t>
            </a:r>
            <a:r>
              <a:rPr lang="en-US" sz="2000" dirty="0"/>
              <a:t> with: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900" dirty="0"/>
              <a:t>title: "My First Blog Post"</a:t>
            </a:r>
          </a:p>
          <a:p>
            <a:pPr marL="0" indent="0">
              <a:buNone/>
            </a:pPr>
            <a:r>
              <a:rPr lang="en-US" sz="900" dirty="0"/>
              <a:t>date: 2026-06-16</a:t>
            </a:r>
          </a:p>
          <a:p>
            <a:pPr marL="0" indent="0">
              <a:buNone/>
            </a:pPr>
            <a:r>
              <a:rPr lang="en-US" sz="900" dirty="0"/>
              <a:t>categories:</a:t>
            </a:r>
          </a:p>
          <a:p>
            <a:pPr marL="0" indent="0">
              <a:buNone/>
            </a:pPr>
            <a:r>
              <a:rPr lang="en-US" sz="900" dirty="0"/>
              <a:t>  - personal</a:t>
            </a:r>
          </a:p>
          <a:p>
            <a:pPr marL="0" indent="0">
              <a:buNone/>
            </a:pPr>
            <a:r>
              <a:rPr lang="en-US" sz="900" dirty="0"/>
              <a:t>  - data-science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![](figure1.png){width="500px"}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This is my first blog post. Example $\LaTeX$ equation: $\frac{1}{2}\sum_{</a:t>
            </a:r>
            <a:r>
              <a:rPr lang="en-US" sz="900" dirty="0" err="1"/>
              <a:t>i</a:t>
            </a:r>
            <a:r>
              <a:rPr lang="en-US" sz="900" dirty="0"/>
              <a:t>=1}^</a:t>
            </a:r>
            <a:r>
              <a:rPr lang="en-US" sz="900" dirty="0" err="1"/>
              <a:t>nx_i</a:t>
            </a:r>
            <a:r>
              <a:rPr lang="en-US" sz="900" dirty="0"/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33829024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BCC4-0594-8E48-66A1-542BB9A4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9B15-2BC8-DB59-E92D-916CFE7D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EF17B-C13F-02D0-4B89-A6D449B38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91681-6125-E495-E9CE-9B2E47049DE1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B05934-494E-B225-8198-34817C187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Inside the post2 folder: create a file called </a:t>
            </a:r>
            <a:r>
              <a:rPr lang="en-US" sz="2000" dirty="0" err="1"/>
              <a:t>index.qmd</a:t>
            </a:r>
            <a:r>
              <a:rPr lang="en-US" sz="2000" dirty="0"/>
              <a:t> with: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900" dirty="0"/>
              <a:t>title: "My Second Blog Post"</a:t>
            </a:r>
          </a:p>
          <a:p>
            <a:pPr marL="0" indent="0">
              <a:buNone/>
            </a:pPr>
            <a:r>
              <a:rPr lang="en-US" sz="900" dirty="0"/>
              <a:t>date: 2026-06-16</a:t>
            </a:r>
          </a:p>
          <a:p>
            <a:pPr marL="0" indent="0">
              <a:buNone/>
            </a:pPr>
            <a:r>
              <a:rPr lang="en-US" sz="900" dirty="0"/>
              <a:t>categories:</a:t>
            </a:r>
          </a:p>
          <a:p>
            <a:pPr marL="0" indent="0">
              <a:buNone/>
            </a:pPr>
            <a:r>
              <a:rPr lang="en-US" sz="900" dirty="0"/>
              <a:t>  - opinion</a:t>
            </a:r>
          </a:p>
          <a:p>
            <a:pPr marL="0" indent="0">
              <a:buNone/>
            </a:pPr>
            <a:r>
              <a:rPr lang="en-US" sz="900" dirty="0"/>
              <a:t>  - labor market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This is my second blog post.</a:t>
            </a:r>
          </a:p>
        </p:txBody>
      </p:sp>
    </p:spTree>
    <p:extLst>
      <p:ext uri="{BB962C8B-B14F-4D97-AF65-F5344CB8AC3E}">
        <p14:creationId xmlns:p14="http://schemas.microsoft.com/office/powerpoint/2010/main" val="9269285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3B0C-F4FB-5446-FD80-8476494E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FB6D-6DB2-07B1-BD89-6144263D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7F6F2-555E-D1AF-7457-9F34913AB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F504A-95C6-87D1-822E-473773F334BC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6E4EB0-F534-6D84-405B-CA3673BB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Your files path should look like:</a:t>
            </a:r>
            <a:endParaRPr lang="en-US" sz="9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0994B7-3C33-0E8D-0A08-1581DD467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" y="1613078"/>
            <a:ext cx="4318700" cy="235417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4C04E5-898D-3381-91F9-E5B2BF9791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078" y="1586892"/>
            <a:ext cx="4050390" cy="217865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05247A-9E7F-7929-5DB1-BC199062D0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58" y="4222142"/>
            <a:ext cx="3991359" cy="1889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BB5656-9DE9-3D40-7646-4A42495008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300" y="4077351"/>
            <a:ext cx="4031767" cy="217865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DC7E86-5D4A-5C59-ACA7-1C6B67F0042D}"/>
              </a:ext>
            </a:extLst>
          </p:cNvPr>
          <p:cNvCxnSpPr/>
          <p:nvPr/>
        </p:nvCxnSpPr>
        <p:spPr bwMode="auto">
          <a:xfrm>
            <a:off x="4191000" y="3048000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E72378-7AE0-4276-E883-CC39E60B859E}"/>
              </a:ext>
            </a:extLst>
          </p:cNvPr>
          <p:cNvCxnSpPr/>
          <p:nvPr/>
        </p:nvCxnSpPr>
        <p:spPr bwMode="auto">
          <a:xfrm flipH="1">
            <a:off x="3962400" y="3765549"/>
            <a:ext cx="609600" cy="4565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2A71E1-81B0-2E47-7029-6C7A97324739}"/>
              </a:ext>
            </a:extLst>
          </p:cNvPr>
          <p:cNvCxnSpPr/>
          <p:nvPr/>
        </p:nvCxnSpPr>
        <p:spPr bwMode="auto">
          <a:xfrm>
            <a:off x="4191000" y="5562600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255860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60D1-20C2-AA57-4522-ADB25032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E9ABC-1500-2DEA-D92F-1EE17B65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98225-D901-5641-DCF9-3245FC93E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871AC6-B13D-BA2A-3752-A430586D27D8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84DD98-5E8A-DAF8-409A-797EBD909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Now click Render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328002-FB81-3869-5C2B-2D7651CB4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75" y="1676400"/>
            <a:ext cx="6096000" cy="374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48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E554-5EC9-C76C-D82E-D5092975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53C8-B13B-CD43-C778-A7359459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378FA-6B53-8E7A-4BCF-5D196D1D7D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2E4CE2-2202-B86B-5125-AA394A6622D9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CF5BCB-4F1C-25CE-1C01-2D5E66303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File → New Project → Version Control → Git (copy and paste the GitHub </a:t>
            </a:r>
            <a:r>
              <a:rPr lang="en-US" dirty="0" err="1"/>
              <a:t>url</a:t>
            </a:r>
            <a:r>
              <a:rPr lang="en-US" dirty="0"/>
              <a:t>) and call the directory website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EB5DDC-BAFD-D3F7-AB60-FA1AAEA1E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57" y="2672326"/>
            <a:ext cx="4641850" cy="332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02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52377-672B-5439-8679-A87A69F3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2EA2-CF27-D745-A208-D3DD2266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0C1D7-6CA3-059C-C10B-3C11DAB2A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EB3D8-25B4-A54F-828C-0960C7562128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4A1321-C784-360D-62C3-E0F4360C8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Commit and Push Your Changes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7D8F89-4081-E0F8-367C-0832A3122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91" y="1828800"/>
            <a:ext cx="5943600" cy="353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22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1ECB-772B-A261-F603-238CE7F54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73CF-C000-F4EF-CCBD-E3C29C1F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86F5B-3603-14B7-9E5F-F6239E6DD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73077E-7328-E0E7-19DF-8A384C225833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500A12-2675-2F20-EDCD-971B416A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Commit and Push Your Changes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30683D-E606-A07E-6882-4756B6797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8800"/>
            <a:ext cx="5791200" cy="345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753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82B87-B01B-D33A-54D2-A111FF509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FF84-F7BC-5489-8AF4-F93803896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3EBB8-218B-4787-BA0F-A2F90C4C8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6F939-8C17-F448-DA11-CF999A7C02DE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05933C-5F16-439D-39CE-4FB11E4A4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252" y="1079500"/>
            <a:ext cx="5805720" cy="4483100"/>
          </a:xfrm>
        </p:spPr>
      </p:pic>
    </p:spTree>
    <p:extLst>
      <p:ext uri="{BB962C8B-B14F-4D97-AF65-F5344CB8AC3E}">
        <p14:creationId xmlns:p14="http://schemas.microsoft.com/office/powerpoint/2010/main" val="3721064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05CF-2DD6-C7E4-C39A-A99A5A1B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6427-4EFE-C588-DF81-C3802517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C3894-6A14-759E-E104-C987B493B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28EE86-5E59-4086-34A4-5544B0107415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Setting Up a Quarto Website</a:t>
            </a:r>
          </a:p>
        </p:txBody>
      </p:sp>
      <p:pic>
        <p:nvPicPr>
          <p:cNvPr id="15" name="Content Placeholder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8484F1-41B8-293A-486A-AAA565E8A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159" y="1079500"/>
            <a:ext cx="5931906" cy="4483100"/>
          </a:xfrm>
        </p:spPr>
      </p:pic>
    </p:spTree>
    <p:extLst>
      <p:ext uri="{BB962C8B-B14F-4D97-AF65-F5344CB8AC3E}">
        <p14:creationId xmlns:p14="http://schemas.microsoft.com/office/powerpoint/2010/main" val="22429825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D9E0-B1DA-0805-9FA1-347F1C05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360E-6649-E518-5FBD-0745DE65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Questions in Business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DF55A-8E60-315D-764B-BC27322F4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30C79B-2608-4952-87D8-916F258F03A2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1FEDE-41CD-696C-FA36-4474468239B8}"/>
              </a:ext>
            </a:extLst>
          </p:cNvPr>
          <p:cNvSpPr/>
          <p:nvPr/>
        </p:nvSpPr>
        <p:spPr>
          <a:xfrm>
            <a:off x="838200" y="1524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Homework 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CBBE35-F694-BBB2-3118-DE0BC7B9F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 together a resume </a:t>
            </a:r>
          </a:p>
          <a:p>
            <a:r>
              <a:rPr lang="en-US" dirty="0"/>
              <a:t>Add a profile photo and bio</a:t>
            </a:r>
          </a:p>
        </p:txBody>
      </p:sp>
    </p:spTree>
    <p:extLst>
      <p:ext uri="{BB962C8B-B14F-4D97-AF65-F5344CB8AC3E}">
        <p14:creationId xmlns:p14="http://schemas.microsoft.com/office/powerpoint/2010/main" val="2339252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ANDSHOWBAR" val="True"/>
  <p:tag name="BULLETTYPE" val="3"/>
  <p:tag name="RESPCOUNTERSTYLE" val="-1"/>
  <p:tag name="INPUTSOURCE" val="1"/>
  <p:tag name="BACKUPMAINTENANCE" val="7"/>
  <p:tag name="ROTATIONINTERVAL" val="2"/>
  <p:tag name="RACERSMAXDISPLAYED" val="5"/>
  <p:tag name="TEAMSINLEADERBOARD" val="5"/>
  <p:tag name="BUBBLEVALUEFORMAT" val="0.0"/>
  <p:tag name="CUSTOMCELLFORECOLOR" val="-16777216"/>
  <p:tag name="CUSTOMCELLBACKCOLOR4" val="-8355712"/>
  <p:tag name="DISPLAYDEVICEID" val="True"/>
  <p:tag name="GRIDSIZE" val="{Width=800, Height=600}"/>
  <p:tag name="CHARTLABELS" val="1"/>
  <p:tag name="PARTLISTDEFAULT" val="1"/>
  <p:tag name="INCORRECTPOINTVALUE" val="0"/>
  <p:tag name="AUTOADJUSTPARTRANGE" val="True"/>
  <p:tag name="FIBNUMRESULTS" val="5"/>
  <p:tag name="PRRESPONSE2" val="9"/>
  <p:tag name="PRRESPONSE6" val="5"/>
  <p:tag name="PRRESPONSE10" val="1"/>
  <p:tag name="POWERPOINTVERSION" val="12.0"/>
  <p:tag name="CSVFORMAT" val="0"/>
  <p:tag name="RESPCOUNTERFORMAT" val="0"/>
  <p:tag name="ALLOWDUPLICATES" val="False"/>
  <p:tag name="REVIEWONLY" val="False"/>
  <p:tag name="RACEANIMATIONSPEED" val="3"/>
  <p:tag name="BUBBLENAMEVISIBLE" val="True"/>
  <p:tag name="CUSTOMGRIDBACKCOLOR" val="-2830136"/>
  <p:tag name="USESCHEMECOLORS" val="True"/>
  <p:tag name="GRIDROTATIONINTERVAL" val="2"/>
  <p:tag name="CHARTCOLORS" val="0"/>
  <p:tag name="INCLUDEPPT" val="True"/>
  <p:tag name="REALTIMEBACKUPPATH" val="(None)"/>
  <p:tag name="FIBDISPLAYRESULTS" val="True"/>
  <p:tag name="PRRESPONSE3" val="8"/>
  <p:tag name="PRRESPONSE8" val="3"/>
  <p:tag name="ANSWERNOWSTYLE" val="-1"/>
  <p:tag name="COUNTDOWNSECONDS" val="10"/>
  <p:tag name="AUTOADVANCE" val="False"/>
  <p:tag name="SKIPREMAININGRACESLIDES" val="True"/>
  <p:tag name="BUBBLEGROUPING" val="3"/>
  <p:tag name="CUSTOMCELLBACKCOLOR3" val="-268652"/>
  <p:tag name="AUTOSIZEGRID" val="True"/>
  <p:tag name="INCLUDENONRESPONDERS" val="False"/>
  <p:tag name="REALTIMEBACKUP" val="False"/>
  <p:tag name="FIBINCLUDEOTHER" val="True"/>
  <p:tag name="PRRESPONSE5" val="6"/>
  <p:tag name="ALWAYSOPENPOLL" val="False"/>
  <p:tag name="ANSWERNOWTEXT" val="Answer Now"/>
  <p:tag name="BACKUPSESSIONS" val="True"/>
  <p:tag name="RACEENDPOINTS" val="100"/>
  <p:tag name="DEFAULTNUMTEAMS" val="5"/>
  <p:tag name="DISPLAYDEVICENUMBER" val="True"/>
  <p:tag name="RESETCHARTS" val="True"/>
  <p:tag name="ZEROBASED" val="False"/>
  <p:tag name="PRRESPONSE1" val="10"/>
  <p:tag name="SHOWFLASHWARNING" val="True"/>
  <p:tag name="COUNTDOWNSTYLE" val="-1"/>
  <p:tag name="AUTOUPDATEALIASES" val="True"/>
  <p:tag name="BUBBLESIZEVISIBLE" val="True"/>
  <p:tag name="GRIDOPACITY" val="90"/>
  <p:tag name="ALLOWUSERFEEDBACK" val="True"/>
  <p:tag name="FIBDISPLAYKEYWORDS" val="True"/>
  <p:tag name="SHOWBARVISIBLE" val="True"/>
  <p:tag name="NUMRESPONSES" val="1"/>
  <p:tag name="MAXRESPONDERS" val="5"/>
  <p:tag name="GRIDPOSITION" val="1"/>
  <p:tag name="CHARTSCALE" val="True"/>
  <p:tag name="PRRESPONSE9" val="2"/>
  <p:tag name="CHARTVALUEFORMAT" val="0%"/>
  <p:tag name="CUSTOMCELLBACKCOLOR2" val="-13395457"/>
  <p:tag name="CORRECTPOINTVALUE" val="1"/>
  <p:tag name="USESECONDARYMONITOR" val="True"/>
  <p:tag name="PARTICIPANTSINLEADERBOARD" val="5"/>
  <p:tag name="MULTIRESPDIVISOR" val="1"/>
  <p:tag name="SAVECSVWITHSESSION" val="False"/>
  <p:tag name="DISPLAYNAME" val="True"/>
  <p:tag name="PRRESPONSE7" val="4"/>
  <p:tag name="POLLINGCYCLE" val="2"/>
  <p:tag name="STDCHART" val="1"/>
  <p:tag name="RESPTABLESTYLE" val="-1"/>
  <p:tag name="CUSTOMCELLBACKCOLOR1" val="-657956"/>
  <p:tag name="PRRESPONSE4" val="7"/>
  <p:tag name="ADVANCEDSETTINGSVIEW" val="False"/>
  <p:tag name="DELIMITERS" val="3.1"/>
  <p:tag name="WASPOLLED" val="AB9E38B628994D119D626ADB3150A3A0"/>
  <p:tag name="TPVERSION" val="5"/>
  <p:tag name="TPFULLVERSION" val="5.4.1.2"/>
  <p:tag name="PPTVERSION" val="16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slidesmaster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lidesmaster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667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667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lides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mast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mast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mast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mast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mast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mast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mast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mast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mast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mast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mast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100787</TotalTime>
  <Words>1841</Words>
  <Application>Microsoft Macintosh PowerPoint</Application>
  <PresentationFormat>On-screen Show (4:3)</PresentationFormat>
  <Paragraphs>455</Paragraphs>
  <Slides>49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Helvetica Neue</vt:lpstr>
      <vt:lpstr>slidesmaster</vt:lpstr>
      <vt:lpstr>PowerPoint Presentation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PowerPoint Presentation</vt:lpstr>
      <vt:lpstr>PowerPoint Presentation</vt:lpstr>
      <vt:lpstr>PowerPoint Presentation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  <vt:lpstr>Causal Questions in Business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</dc:creator>
  <cp:lastModifiedBy>Yisroel Cahn</cp:lastModifiedBy>
  <cp:revision>915</cp:revision>
  <cp:lastPrinted>2019-08-28T18:25:45Z</cp:lastPrinted>
  <dcterms:created xsi:type="dcterms:W3CDTF">2009-07-14T18:51:06Z</dcterms:created>
  <dcterms:modified xsi:type="dcterms:W3CDTF">2026-07-20T18:27:56Z</dcterms:modified>
</cp:coreProperties>
</file>